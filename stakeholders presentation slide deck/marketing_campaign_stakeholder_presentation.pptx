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21"/>
  </p:notesMasterIdLst>
  <p:sldIdLst>
    <p:sldId id="266" r:id="rId4"/>
    <p:sldId id="268" r:id="rId5"/>
    <p:sldId id="269" r:id="rId6"/>
    <p:sldId id="275" r:id="rId7"/>
    <p:sldId id="272" r:id="rId8"/>
    <p:sldId id="271" r:id="rId9"/>
    <p:sldId id="274" r:id="rId10"/>
    <p:sldId id="285" r:id="rId11"/>
    <p:sldId id="270" r:id="rId12"/>
    <p:sldId id="276" r:id="rId13"/>
    <p:sldId id="277" r:id="rId14"/>
    <p:sldId id="279" r:id="rId15"/>
    <p:sldId id="278" r:id="rId16"/>
    <p:sldId id="283" r:id="rId17"/>
    <p:sldId id="281" r:id="rId18"/>
    <p:sldId id="286" r:id="rId19"/>
    <p:sldId id="256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3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1" autoAdjust="0"/>
    <p:restoredTop sz="92349" autoAdjust="0"/>
  </p:normalViewPr>
  <p:slideViewPr>
    <p:cSldViewPr snapToGrid="0" snapToObjects="1">
      <p:cViewPr>
        <p:scale>
          <a:sx n="80" d="100"/>
          <a:sy n="80" d="100"/>
        </p:scale>
        <p:origin x="-486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6C4C1-D24B-4A74-81BA-D11338B053DA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C7067-7DCE-49F6-9D21-3B40DF21B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2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C7067-7DCE-49F6-9D21-3B40DF21B4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9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6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6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91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91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91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621" y="2130430"/>
            <a:ext cx="7770376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245" y="3886200"/>
            <a:ext cx="639913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48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807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25" y="4406905"/>
            <a:ext cx="777037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25" y="2906713"/>
            <a:ext cx="777037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365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081" y="1600204"/>
            <a:ext cx="40375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990" y="1600204"/>
            <a:ext cx="40375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41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535113"/>
            <a:ext cx="403913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081" y="2174875"/>
            <a:ext cx="403913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3816" y="1535113"/>
            <a:ext cx="40407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3816" y="2174875"/>
            <a:ext cx="40407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940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232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6304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273050"/>
            <a:ext cx="300753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121" y="273052"/>
            <a:ext cx="511041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1435102"/>
            <a:ext cx="300753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6284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821" y="4800600"/>
            <a:ext cx="5484971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821" y="612775"/>
            <a:ext cx="5484971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821" y="5367338"/>
            <a:ext cx="548497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8288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4097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4" y="274639"/>
            <a:ext cx="2056864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081" y="274639"/>
            <a:ext cx="6018232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1560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621" y="2130426"/>
            <a:ext cx="7770376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243" y="3886200"/>
            <a:ext cx="639913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5624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7976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125" y="4406901"/>
            <a:ext cx="777037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125" y="2906713"/>
            <a:ext cx="777037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6880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081" y="1600201"/>
            <a:ext cx="40375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990" y="1600201"/>
            <a:ext cx="40375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8685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535113"/>
            <a:ext cx="403913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081" y="2174875"/>
            <a:ext cx="403913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3816" y="1535113"/>
            <a:ext cx="40407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3816" y="2174875"/>
            <a:ext cx="40407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1646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6263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9944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273050"/>
            <a:ext cx="300753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119" y="273051"/>
            <a:ext cx="511041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1435101"/>
            <a:ext cx="300753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8453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821" y="4800600"/>
            <a:ext cx="5484971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821" y="612775"/>
            <a:ext cx="5484971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821" y="5367338"/>
            <a:ext cx="5484971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059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3272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4" y="274639"/>
            <a:ext cx="2056864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081" y="274639"/>
            <a:ext cx="6018232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4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083" y="274638"/>
            <a:ext cx="82274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3" y="1600204"/>
            <a:ext cx="82274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081" y="6356355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3386" y="6356355"/>
            <a:ext cx="28948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1494" y="6356355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084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081" y="274638"/>
            <a:ext cx="82274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81" y="1600201"/>
            <a:ext cx="822745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081" y="6356351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3386" y="6356351"/>
            <a:ext cx="28948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1494" y="6356351"/>
            <a:ext cx="21330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17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09441" y="2474565"/>
            <a:ext cx="2209225" cy="304800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 w="9525">
            <a:solidFill>
              <a:srgbClr val="00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444" y="4392810"/>
            <a:ext cx="10969943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81800"/>
            <a:ext cx="3047206" cy="76200"/>
          </a:xfrm>
          <a:prstGeom prst="rect">
            <a:avLst/>
          </a:prstGeom>
          <a:solidFill>
            <a:srgbClr val="00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7206" y="6781800"/>
            <a:ext cx="3047206" cy="76200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4413" y="6781800"/>
            <a:ext cx="3047206" cy="76200"/>
          </a:xfrm>
          <a:prstGeom prst="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1619" y="6781800"/>
            <a:ext cx="3047206" cy="76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444" y="4392817"/>
            <a:ext cx="1096994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99624" y="4630942"/>
            <a:ext cx="9523" cy="4286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80173" y="4630942"/>
            <a:ext cx="9523" cy="42862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67" y="6489158"/>
            <a:ext cx="266631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441" y="2779372"/>
            <a:ext cx="7588359" cy="5770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484"/>
              </a:lnSpc>
            </a:pPr>
            <a:r>
              <a:rPr sz="3900" b="1" dirty="0">
                <a:solidFill>
                  <a:srgbClr val="FFFFFF"/>
                </a:solidFill>
                <a:latin typeface="Plus Jakarta Sans"/>
              </a:rPr>
              <a:t>Term Deposit Campaign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1" y="3501330"/>
            <a:ext cx="9158014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310"/>
              </a:lnSpc>
            </a:pPr>
            <a:r>
              <a:rPr b="1" dirty="0">
                <a:solidFill>
                  <a:srgbClr val="CBD5E1"/>
                </a:solidFill>
                <a:latin typeface="Plus Jakarta Sans"/>
              </a:rPr>
              <a:t>Performance Analysis, Customer Profiling, and Strategic Recommendations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42" y="4630941"/>
            <a:ext cx="62677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64748B"/>
                </a:solidFill>
                <a:latin typeface="Plus Jakarta Sans"/>
              </a:rPr>
              <a:t>TIMELINE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2" y="4840492"/>
            <a:ext cx="205825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50" b="1" dirty="0" smtClean="0">
                <a:solidFill>
                  <a:srgbClr val="FFFFFF"/>
                </a:solidFill>
                <a:latin typeface="Plus Jakarta Sans"/>
              </a:rPr>
              <a:t>2025 </a:t>
            </a:r>
            <a:r>
              <a:rPr sz="1350" b="1" dirty="0">
                <a:solidFill>
                  <a:srgbClr val="FFFFFF"/>
                </a:solidFill>
                <a:latin typeface="Plus Jakarta Sans"/>
              </a:rPr>
              <a:t>– </a:t>
            </a:r>
            <a:r>
              <a:rPr lang="en-US" sz="1350" b="1" dirty="0" smtClean="0">
                <a:solidFill>
                  <a:srgbClr val="FFFFFF"/>
                </a:solidFill>
                <a:latin typeface="Plus Jakarta Sans"/>
              </a:rPr>
              <a:t>Campaign </a:t>
            </a:r>
            <a:r>
              <a:rPr sz="1350" b="1" dirty="0" smtClean="0">
                <a:solidFill>
                  <a:srgbClr val="FFFFFF"/>
                </a:solidFill>
                <a:latin typeface="Plus Jakarta Sans"/>
              </a:rPr>
              <a:t>Review</a:t>
            </a:r>
            <a:endParaRPr sz="1350" b="1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13864" y="4630941"/>
            <a:ext cx="125675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64748B"/>
                </a:solidFill>
                <a:latin typeface="Plus Jakarta Sans"/>
              </a:rPr>
              <a:t>TARGET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3864" y="4840492"/>
            <a:ext cx="231473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50" b="1" dirty="0">
                <a:solidFill>
                  <a:srgbClr val="FFFFFF"/>
                </a:solidFill>
                <a:latin typeface="Plus Jakarta Sans"/>
              </a:rPr>
              <a:t>Fixed-Term Savings Deposit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4412" y="4630941"/>
            <a:ext cx="145392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64748B"/>
                </a:solidFill>
                <a:latin typeface="Plus Jakarta Sans"/>
              </a:rPr>
              <a:t>DASHBOARD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12" y="4840492"/>
            <a:ext cx="192039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50" b="1" dirty="0">
                <a:solidFill>
                  <a:schemeClr val="bg1"/>
                </a:solidFill>
                <a:latin typeface="Plus Jakarta Sans"/>
              </a:rPr>
              <a:t>Tableau Live Integrated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4" y="875510"/>
            <a:ext cx="3476878" cy="19405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8866" y="6515100"/>
            <a:ext cx="107854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 err="1">
                <a:solidFill>
                  <a:srgbClr val="FFFFFF"/>
                </a:solidFill>
                <a:latin typeface="Plus Jakarta Sans"/>
              </a:rPr>
              <a:t>CaixaBank</a:t>
            </a:r>
            <a:endParaRPr sz="165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2"/>
            <a:ext cx="12192000" cy="752475"/>
          </a:xfrm>
          <a:prstGeom prst="rect">
            <a:avLst/>
          </a:prstGeom>
          <a:solidFill>
            <a:srgbClr val="00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723904"/>
            <a:ext cx="12192000" cy="28575"/>
          </a:xfrm>
          <a:prstGeom prst="rect">
            <a:avLst/>
          </a:prstGeom>
          <a:solidFill>
            <a:srgbClr val="00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61838" y="248087"/>
            <a:ext cx="665951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000" b="1" dirty="0">
                <a:solidFill>
                  <a:srgbClr val="94A3B8"/>
                </a:solidFill>
                <a:latin typeface="Plus Jakarta Sans"/>
              </a:rPr>
              <a:t>BUSINESS INTELLIGENCE &amp; MARKETING ANALYTICS</a:t>
            </a:r>
          </a:p>
        </p:txBody>
      </p:sp>
    </p:spTree>
    <p:extLst>
      <p:ext uri="{BB962C8B-B14F-4D97-AF65-F5344CB8AC3E}">
        <p14:creationId xmlns:p14="http://schemas.microsoft.com/office/powerpoint/2010/main" val="274730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442" y="5657850"/>
            <a:ext cx="10969943" cy="7429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441" y="1771650"/>
            <a:ext cx="3999458" cy="3181350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441" y="5657850"/>
            <a:ext cx="38090" cy="742950"/>
          </a:xfrm>
          <a:prstGeom prst="rect">
            <a:avLst/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989800" y="1924050"/>
            <a:ext cx="3218612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360772" y="1924050"/>
            <a:ext cx="3218612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989800" y="3438526"/>
            <a:ext cx="3218612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60772" y="3438526"/>
            <a:ext cx="3218612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86215" y="4495800"/>
            <a:ext cx="114270" cy="114300"/>
          </a:xfrm>
          <a:prstGeom prst="roundRect">
            <a:avLst>
              <a:gd name="adj" fmla="val 25000"/>
            </a:avLst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98966" y="4495800"/>
            <a:ext cx="114270" cy="1143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07" y="2476500"/>
            <a:ext cx="1999729" cy="2000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442" y="457200"/>
            <a:ext cx="152445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005A9C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1" y="685800"/>
            <a:ext cx="478656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000" b="1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Campaign Subscriptions &amp; Key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072" y="5810251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>
                <a:solidFill>
                  <a:srgbClr val="0369A1"/>
                </a:solidFill>
                <a:latin typeface="Plus Jakarta Sans"/>
              </a:rPr>
              <a:t>Strategic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072" y="6029328"/>
            <a:ext cx="972388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350" b="1" dirty="0">
                <a:solidFill>
                  <a:srgbClr val="0F172A"/>
                </a:solidFill>
                <a:latin typeface="Plus Jakarta Sans"/>
              </a:rPr>
              <a:t>11.7% conversion baseline:</a:t>
            </a:r>
            <a:r>
              <a:rPr sz="1350" dirty="0">
                <a:solidFill>
                  <a:srgbClr val="0F172A"/>
                </a:solidFill>
                <a:latin typeface="Plus Jakarta Sans"/>
              </a:rPr>
              <a:t> Conversion is heavily concentrated in specific customer segments and seasonal calling windows.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0493" y="2085976"/>
            <a:ext cx="15773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dirty="0">
                <a:solidFill>
                  <a:srgbClr val="334155"/>
                </a:solidFill>
                <a:latin typeface="Plus Jakarta Sans"/>
              </a:rPr>
              <a:t>Overall </a:t>
            </a:r>
            <a:r>
              <a:rPr sz="1200" b="1" dirty="0" smtClean="0">
                <a:solidFill>
                  <a:srgbClr val="334155"/>
                </a:solidFill>
                <a:latin typeface="Plus Jakarta Sans"/>
              </a:rPr>
              <a:t>Portfolio Split</a:t>
            </a:r>
            <a:endParaRPr sz="1200" b="1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32025" y="3190877"/>
            <a:ext cx="1154290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700" b="1" dirty="0" smtClean="0">
                <a:solidFill>
                  <a:srgbClr val="0F172A"/>
                </a:solidFill>
                <a:latin typeface="Plus Jakarta Sans"/>
              </a:rPr>
              <a:t>11.7</a:t>
            </a:r>
            <a:r>
              <a:rPr lang="en-US" sz="2700" b="1" dirty="0" smtClean="0">
                <a:solidFill>
                  <a:srgbClr val="0F172A"/>
                </a:solidFill>
                <a:latin typeface="Plus Jakarta Sans"/>
              </a:rPr>
              <a:t>0</a:t>
            </a:r>
            <a:r>
              <a:rPr sz="2700" b="1" dirty="0" smtClean="0">
                <a:solidFill>
                  <a:srgbClr val="0F172A"/>
                </a:solidFill>
                <a:latin typeface="Plus Jakarta Sans"/>
              </a:rPr>
              <a:t>%</a:t>
            </a:r>
            <a:endParaRPr sz="270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42884" y="3533777"/>
            <a:ext cx="73257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64748B"/>
                </a:solidFill>
                <a:latin typeface="Plus Jakarta Sans"/>
              </a:rPr>
              <a:t>Subscribed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3018" y="4467227"/>
            <a:ext cx="119904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050" b="1" dirty="0" smtClean="0">
                <a:solidFill>
                  <a:srgbClr val="334155"/>
                </a:solidFill>
                <a:latin typeface="Plus Jakarta Sans"/>
              </a:rPr>
              <a:t>Subscribers: </a:t>
            </a:r>
            <a:r>
              <a:rPr sz="1050" b="1" dirty="0" smtClean="0">
                <a:solidFill>
                  <a:srgbClr val="334155"/>
                </a:solidFill>
                <a:latin typeface="Plus Jakarta Sans"/>
              </a:rPr>
              <a:t>5,289</a:t>
            </a:r>
            <a:endParaRPr sz="1050" b="1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75769" y="4467227"/>
            <a:ext cx="160941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 dirty="0" smtClean="0">
                <a:solidFill>
                  <a:srgbClr val="64748B"/>
                </a:solidFill>
                <a:latin typeface="Plus Jakarta Sans"/>
              </a:rPr>
              <a:t>No</a:t>
            </a:r>
            <a:r>
              <a:rPr lang="en-US" sz="1050" b="1" dirty="0" smtClean="0">
                <a:solidFill>
                  <a:srgbClr val="64748B"/>
                </a:solidFill>
                <a:latin typeface="Plus Jakarta Sans"/>
              </a:rPr>
              <a:t>n Subscribers </a:t>
            </a:r>
            <a:r>
              <a:rPr sz="1050" b="1" dirty="0" smtClean="0">
                <a:solidFill>
                  <a:srgbClr val="64748B"/>
                </a:solidFill>
                <a:latin typeface="Plus Jakarta Sans"/>
              </a:rPr>
              <a:t>: </a:t>
            </a:r>
            <a:r>
              <a:rPr sz="1050" b="1" dirty="0">
                <a:solidFill>
                  <a:srgbClr val="64748B"/>
                </a:solidFill>
                <a:latin typeface="Plus Jakarta Sans"/>
              </a:rPr>
              <a:t>39,922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7863" y="2162177"/>
            <a:ext cx="116538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64748B"/>
                </a:solidFill>
                <a:latin typeface="Plus Jakarta Sans"/>
              </a:rPr>
              <a:t>TARGET CLIENTS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7864" y="2409826"/>
            <a:ext cx="103887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Plus Jakarta Sans"/>
              </a:rPr>
              <a:t>45,211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7863" y="2876552"/>
            <a:ext cx="168475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0284C7"/>
                </a:solidFill>
                <a:latin typeface="Plus Jakarta Sans"/>
              </a:rPr>
              <a:t>Outbound phone outreach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8836" y="2162177"/>
            <a:ext cx="98905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64748B"/>
                </a:solidFill>
                <a:latin typeface="Plus Jakarta Sans"/>
              </a:rPr>
              <a:t>AVG 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8835" y="2409826"/>
            <a:ext cx="153888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700" b="1" dirty="0" smtClean="0">
                <a:solidFill>
                  <a:srgbClr val="0F172A"/>
                </a:solidFill>
                <a:latin typeface="Plus Jakarta Sans"/>
              </a:rPr>
              <a:t>$</a:t>
            </a:r>
            <a:r>
              <a:rPr sz="2700" b="1" dirty="0" smtClean="0">
                <a:solidFill>
                  <a:srgbClr val="0F172A"/>
                </a:solidFill>
                <a:latin typeface="Plus Jakarta Sans"/>
              </a:rPr>
              <a:t>1,362</a:t>
            </a:r>
            <a:r>
              <a:rPr lang="en-US" sz="2700" b="1" dirty="0" smtClean="0">
                <a:solidFill>
                  <a:srgbClr val="0F172A"/>
                </a:solidFill>
                <a:latin typeface="Plus Jakarta Sans"/>
              </a:rPr>
              <a:t>.27</a:t>
            </a:r>
            <a:endParaRPr sz="2700" b="1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98835" y="2876552"/>
            <a:ext cx="126797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Plus Jakarta Sans"/>
              </a:rPr>
              <a:t>Client liquidity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7863" y="3676651"/>
            <a:ext cx="104034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64748B"/>
                </a:solidFill>
                <a:latin typeface="Plus Jakarta Sans"/>
              </a:rPr>
              <a:t>AVG DURATION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7863" y="3924300"/>
            <a:ext cx="1384995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700" b="1">
                <a:solidFill>
                  <a:srgbClr val="005A9C"/>
                </a:solidFill>
                <a:latin typeface="Plus Jakarta Sans"/>
              </a:rPr>
              <a:t>4.33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7864" y="4391027"/>
            <a:ext cx="149239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>
                <a:solidFill>
                  <a:srgbClr val="64748B"/>
                </a:solidFill>
                <a:latin typeface="Plus Jakarta Sans"/>
              </a:rPr>
              <a:t>Key driver for conversion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8835" y="3676651"/>
            <a:ext cx="166872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64748B"/>
                </a:solidFill>
                <a:latin typeface="Plus Jakarta Sans"/>
              </a:rPr>
              <a:t>CELLULAR CONVERSION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8835" y="3924300"/>
            <a:ext cx="117339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700" b="1" dirty="0" smtClean="0">
                <a:solidFill>
                  <a:srgbClr val="005A9C"/>
                </a:solidFill>
                <a:latin typeface="Plus Jakarta Sans"/>
              </a:rPr>
              <a:t>14.9</a:t>
            </a:r>
            <a:r>
              <a:rPr lang="en-US" sz="2700" b="1" dirty="0" smtClean="0">
                <a:solidFill>
                  <a:srgbClr val="005A9C"/>
                </a:solidFill>
                <a:latin typeface="Plus Jakarta Sans"/>
              </a:rPr>
              <a:t>2</a:t>
            </a:r>
            <a:r>
              <a:rPr sz="2700" b="1" dirty="0" smtClean="0">
                <a:solidFill>
                  <a:srgbClr val="005A9C"/>
                </a:solidFill>
                <a:latin typeface="Plus Jakarta Sans"/>
              </a:rPr>
              <a:t>%</a:t>
            </a:r>
            <a:endParaRPr sz="2700" b="1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98836" y="4391027"/>
            <a:ext cx="138178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Plus Jakarta Sans"/>
              </a:rPr>
              <a:t>Highest channel yield</a:t>
            </a:r>
          </a:p>
        </p:txBody>
      </p:sp>
    </p:spTree>
    <p:extLst>
      <p:ext uri="{BB962C8B-B14F-4D97-AF65-F5344CB8AC3E}">
        <p14:creationId xmlns:p14="http://schemas.microsoft.com/office/powerpoint/2010/main" val="435712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441" y="791568"/>
            <a:ext cx="10969943" cy="4995079"/>
          </a:xfrm>
          <a:prstGeom prst="roundRect">
            <a:avLst>
              <a:gd name="adj" fmla="val 38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441" y="5882185"/>
            <a:ext cx="5370701" cy="818872"/>
          </a:xfrm>
          <a:prstGeom prst="roundRect">
            <a:avLst>
              <a:gd name="adj" fmla="val 1100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08683" y="5882185"/>
            <a:ext cx="5370701" cy="818872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441" y="225184"/>
            <a:ext cx="231634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A9C"/>
                </a:solidFill>
                <a:latin typeface="Plus Jakarta Sans"/>
              </a:rPr>
              <a:t>SEASONALITY &amp; TIMING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1" y="453784"/>
            <a:ext cx="347531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Subscription Rate by Month </a:t>
            </a:r>
            <a:endParaRPr sz="2000" b="1" i="0" u="none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685" y="858866"/>
            <a:ext cx="399628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000" b="1" i="0" u="none">
                <a:solidFill>
                  <a:schemeClr val="accent1">
                    <a:lumMod val="75000"/>
                  </a:schemeClr>
                </a:solidFill>
                <a:latin typeface="Plus Jakarta Sans"/>
              </a:defRPr>
            </a:lvl1pPr>
          </a:lstStyle>
          <a:p>
            <a:r>
              <a:rPr sz="1200" dirty="0"/>
              <a:t>Monthly C</a:t>
            </a:r>
            <a:r>
              <a:rPr lang="en-US" sz="1200" dirty="0"/>
              <a:t>ontact </a:t>
            </a:r>
            <a:r>
              <a:rPr sz="1200" dirty="0"/>
              <a:t>(Bars) vs. </a:t>
            </a:r>
            <a:r>
              <a:rPr lang="en-US" sz="1200" dirty="0"/>
              <a:t>Subscription </a:t>
            </a:r>
            <a:r>
              <a:rPr sz="1200" dirty="0"/>
              <a:t> Rate % (Line)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414" y="5964949"/>
            <a:ext cx="199522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991B1B"/>
                </a:solidFill>
                <a:latin typeface="Plus Jakarta Sans"/>
              </a:rPr>
              <a:t>May Volume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414" y="6216721"/>
            <a:ext cx="50659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13,766 calls made in May yielded only 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6.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72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% conversion. 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High agent fatigue, low 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subscription 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efficiency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656" y="5976824"/>
            <a:ext cx="21464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166534"/>
                </a:solidFill>
                <a:latin typeface="Plus Jakarta Sans"/>
              </a:rPr>
              <a:t>Peak Efficiency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656" y="6214948"/>
            <a:ext cx="50659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March (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51.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99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%), 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September (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4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6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.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46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%), 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October (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43.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77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%) 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and December (46.73%) 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generate 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maximum campaign ROI per call.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309" y="1109927"/>
            <a:ext cx="9346881" cy="46494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57014" y="1187697"/>
            <a:ext cx="114270" cy="114300"/>
          </a:xfrm>
          <a:prstGeom prst="roundRect">
            <a:avLst>
              <a:gd name="adj" fmla="val 16666"/>
            </a:avLst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99716" y="1187697"/>
            <a:ext cx="114270" cy="1143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8419" y="1159122"/>
            <a:ext cx="50174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i="0" u="none" dirty="0" smtClean="0">
                <a:solidFill>
                  <a:srgbClr val="64748B"/>
                </a:solidFill>
                <a:latin typeface="Plus Jakarta Sans"/>
              </a:rPr>
              <a:t>Contact</a:t>
            </a:r>
            <a:endParaRPr sz="1050" b="1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71121" y="1159122"/>
            <a:ext cx="115095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i="0" u="none" dirty="0" smtClean="0">
                <a:solidFill>
                  <a:srgbClr val="D97706"/>
                </a:solidFill>
                <a:latin typeface="Plus Jakarta Sans"/>
              </a:rPr>
              <a:t>Subscription Rate</a:t>
            </a:r>
            <a:endParaRPr sz="1050" b="1" i="0" u="none" dirty="0">
              <a:solidFill>
                <a:srgbClr val="D97706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50745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762847" y="1811845"/>
            <a:ext cx="5847111" cy="894788"/>
          </a:xfrm>
          <a:prstGeom prst="roundRect">
            <a:avLst>
              <a:gd name="adj" fmla="val 10810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62847" y="4203308"/>
            <a:ext cx="5846367" cy="873522"/>
          </a:xfrm>
          <a:prstGeom prst="roundRect">
            <a:avLst>
              <a:gd name="adj" fmla="val 10810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441" y="170592"/>
            <a:ext cx="18915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05A9C"/>
                </a:solidFill>
                <a:latin typeface="Plus Jakarta Sans"/>
              </a:rPr>
              <a:t>CUSTOMER 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35" y="848417"/>
            <a:ext cx="359072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b="1" i="0" u="none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Subscription Rate By </a:t>
            </a:r>
            <a:r>
              <a:rPr b="1" i="0" u="none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Job Profile</a:t>
            </a:r>
            <a:endParaRPr b="1" i="0" u="none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69173" y="1852929"/>
            <a:ext cx="290631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005A9C"/>
                </a:solidFill>
                <a:latin typeface="Plus Jakarta Sans"/>
              </a:rPr>
              <a:t>Students and </a:t>
            </a:r>
            <a:r>
              <a:rPr lang="en-US" sz="1300" b="1" dirty="0" smtClean="0">
                <a:solidFill>
                  <a:srgbClr val="005A9C"/>
                </a:solidFill>
                <a:latin typeface="Plus Jakarta Sans"/>
              </a:rPr>
              <a:t> Retired</a:t>
            </a:r>
            <a:endParaRPr sz="130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69172" y="2110103"/>
            <a:ext cx="553906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Students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(28.68%) and 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Retired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(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22.79%) are the banks absolute best converters. They are locking in deposits at double or triple the rate of 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other job profiles.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69173" y="4233759"/>
            <a:ext cx="370708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300" b="1">
                <a:solidFill>
                  <a:srgbClr val="005A9C"/>
                </a:solidFill>
                <a:latin typeface="Plus Jakarta Sans"/>
              </a:defRPr>
            </a:lvl1pPr>
          </a:lstStyle>
          <a:p>
            <a:r>
              <a:rPr dirty="0">
                <a:solidFill>
                  <a:schemeClr val="accent2"/>
                </a:solidFill>
              </a:rPr>
              <a:t>Blue-Collar Workers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9172" y="4490933"/>
            <a:ext cx="553906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334155"/>
                </a:solidFill>
                <a:latin typeface="Plus Jakarta Sans"/>
              </a:defRPr>
            </a:lvl1pPr>
          </a:lstStyle>
          <a:p>
            <a:r>
              <a:rPr lang="en-US" dirty="0"/>
              <a:t>Largest volume of phone calls  27415 went to this group  with abysmal </a:t>
            </a:r>
            <a:r>
              <a:rPr dirty="0"/>
              <a:t>7.</a:t>
            </a:r>
            <a:r>
              <a:rPr lang="en-US" dirty="0"/>
              <a:t>27</a:t>
            </a:r>
            <a:r>
              <a:rPr dirty="0"/>
              <a:t>% </a:t>
            </a:r>
            <a:r>
              <a:rPr lang="en-US" dirty="0"/>
              <a:t>subscription </a:t>
            </a:r>
            <a:r>
              <a:rPr dirty="0"/>
              <a:t>rate. </a:t>
            </a:r>
            <a:r>
              <a:rPr lang="en-US" dirty="0"/>
              <a:t>sales team is wasting an incredible amount of time calling blue-collar leads for very little return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5762847" y="2865642"/>
            <a:ext cx="5847111" cy="1079453"/>
          </a:xfrm>
          <a:prstGeom prst="roundRect">
            <a:avLst>
              <a:gd name="adj" fmla="val 10810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69173" y="2896092"/>
            <a:ext cx="5257995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 smtClean="0">
                <a:solidFill>
                  <a:srgbClr val="005A9C"/>
                </a:solidFill>
                <a:latin typeface="Plus Jakarta Sans"/>
              </a:rPr>
              <a:t>Corporate </a:t>
            </a:r>
            <a:r>
              <a:rPr lang="en-US" sz="1300" b="1" dirty="0">
                <a:solidFill>
                  <a:srgbClr val="005A9C"/>
                </a:solidFill>
                <a:latin typeface="Plus Jakarta Sans"/>
              </a:rPr>
              <a:t>Base (Management &amp; Admin)</a:t>
            </a:r>
            <a:endParaRPr sz="130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69173" y="3153266"/>
            <a:ext cx="574078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Management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(13.76%) and 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Admin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(12.20%) has moderate subscription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rates around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the bank campaign's global baseline average (~11.7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%). With over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14,600 contacts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combined, a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tiny increase in their conversion efficiency results in a huge surge of actual deposit volume. 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25" y="1893581"/>
            <a:ext cx="5287787" cy="31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7503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246773" y="1159056"/>
            <a:ext cx="5332611" cy="4409231"/>
          </a:xfrm>
          <a:prstGeom prst="roundRect">
            <a:avLst>
              <a:gd name="adj" fmla="val 5079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38674" y="5936776"/>
            <a:ext cx="3529730" cy="818873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441" y="170592"/>
            <a:ext cx="18915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5A9C"/>
                </a:solidFill>
                <a:latin typeface="Plus Jakarta Sans"/>
              </a:rPr>
              <a:t>CUSTOMER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1" y="399192"/>
            <a:ext cx="244150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Age </a:t>
            </a:r>
            <a:r>
              <a:rPr sz="2000" b="1" i="0" u="none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Group </a:t>
            </a:r>
            <a:r>
              <a:rPr lang="en-US" sz="2000" b="1" i="0" u="none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Analysis</a:t>
            </a:r>
            <a:endParaRPr sz="2000" b="1" i="0" u="none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79720" y="848417"/>
            <a:ext cx="243335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Age Group Conversion Curve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691" y="1408432"/>
            <a:ext cx="5116110" cy="1857275"/>
          </a:xfrm>
          <a:prstGeom prst="roundRect">
            <a:avLst>
              <a:gd name="adj" fmla="val 10810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9347" y="1474263"/>
            <a:ext cx="1892441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166534"/>
                </a:solidFill>
                <a:latin typeface="Plus Jakarta Sans"/>
              </a:rPr>
              <a:t>Seniors &amp; Young Adults</a:t>
            </a:r>
            <a:endParaRPr sz="1300" b="1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9347" y="1731437"/>
            <a:ext cx="479643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Senior (42.26%)  and Young Adults (23.95% )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 are the banks best 2 performing age group . They also make quick decisions  requiring the shortest conversion talk time at average of just 6.66 minutes.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765" y="2388687"/>
            <a:ext cx="1869101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1300" b="1">
                <a:solidFill>
                  <a:srgbClr val="005A9C"/>
                </a:solidFill>
                <a:latin typeface="Plus Jakarta Sans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The Operational Reality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1765" y="2625700"/>
            <a:ext cx="475995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334155"/>
                </a:solidFill>
                <a:latin typeface="Plus Jakarta Sans"/>
              </a:defRPr>
            </a:lvl1pPr>
          </a:lstStyle>
          <a:p>
            <a:r>
              <a:rPr lang="en-US" i="1" dirty="0"/>
              <a:t>Despite being the banks absolute best segments, the marketing team barely targeted them. Together, Seniors and Young Adults make up less than 6% of total customers contacted (2,524 out of 45,211).</a:t>
            </a:r>
            <a:endParaRPr i="1" dirty="0"/>
          </a:p>
        </p:txBody>
      </p:sp>
      <p:sp>
        <p:nvSpPr>
          <p:cNvPr id="28" name="Rounded Rectangle 27"/>
          <p:cNvSpPr/>
          <p:nvPr/>
        </p:nvSpPr>
        <p:spPr>
          <a:xfrm>
            <a:off x="680691" y="3514160"/>
            <a:ext cx="5116110" cy="1544737"/>
          </a:xfrm>
          <a:prstGeom prst="roundRect">
            <a:avLst>
              <a:gd name="adj" fmla="val 10810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9347" y="3597777"/>
            <a:ext cx="1739259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>
                <a:solidFill>
                  <a:schemeClr val="tx2"/>
                </a:solidFill>
                <a:latin typeface="Plus Jakarta Sans"/>
              </a:rPr>
              <a:t>Adults &amp; Middle-Aged</a:t>
            </a:r>
            <a:endParaRPr sz="1300" b="1" dirty="0">
              <a:solidFill>
                <a:schemeClr val="tx2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5833" y="3854951"/>
            <a:ext cx="4759952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334155"/>
                </a:solidFill>
                <a:latin typeface="Plus Jakarta Sans"/>
              </a:rPr>
              <a:t>The bank poured 94.4% of its total call volume (42,687 customers  combined) into these two groups. Their Subscription Rates drop significantly to 11.28% for Adults and a rock-bottom 9.48% for the Middle-Aged. To win a subscription from these groups, sales agents are forced to stay on the phone for 9.20 to 9.64 minutes per successful call, massive waster of call center labor for low returns.</a:t>
            </a:r>
            <a:endParaRPr sz="1200" dirty="0">
              <a:solidFill>
                <a:srgbClr val="334155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76915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609600" y="1257312"/>
            <a:ext cx="5334000" cy="3895259"/>
          </a:xfrm>
          <a:prstGeom prst="roundRect">
            <a:avLst>
              <a:gd name="adj" fmla="val 56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48400" y="1338274"/>
            <a:ext cx="5334000" cy="3779784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3" name="Rounded Rectangle 22"/>
          <p:cNvSpPr/>
          <p:nvPr/>
        </p:nvSpPr>
        <p:spPr>
          <a:xfrm>
            <a:off x="609600" y="5343525"/>
            <a:ext cx="3530649" cy="1304018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30749" y="5343525"/>
            <a:ext cx="3530649" cy="1304018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51899" y="5348288"/>
            <a:ext cx="3530649" cy="1304018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24625" y="2412781"/>
            <a:ext cx="4781550" cy="3744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24625" y="4183954"/>
            <a:ext cx="4781550" cy="3744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24625" y="3299064"/>
            <a:ext cx="4781550" cy="373051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24625" y="2412781"/>
            <a:ext cx="3562201" cy="374400"/>
          </a:xfrm>
          <a:prstGeom prst="roundRect">
            <a:avLst>
              <a:gd name="adj" fmla="val 20000"/>
            </a:avLst>
          </a:prstGeom>
          <a:solidFill>
            <a:srgbClr val="00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524625" y="4183954"/>
            <a:ext cx="3208287" cy="37440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24625" y="3299065"/>
            <a:ext cx="970508" cy="37305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9600" y="457200"/>
            <a:ext cx="214962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dirty="0" smtClean="0">
                <a:solidFill>
                  <a:srgbClr val="005A9C"/>
                </a:solidFill>
                <a:latin typeface="Plus Jakarta Sans"/>
              </a:rPr>
              <a:t>CAMPAIGN CHANNEL </a:t>
            </a:r>
            <a:r>
              <a:rPr lang="en-US" sz="1050" b="1" i="0" u="none" dirty="0" smtClean="0">
                <a:solidFill>
                  <a:srgbClr val="005A9C"/>
                </a:solidFill>
                <a:latin typeface="Plus Jakarta Sans"/>
              </a:rPr>
              <a:t>ANALYSIS</a:t>
            </a:r>
            <a:endParaRPr sz="105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9600" y="685800"/>
            <a:ext cx="565905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Campaign Channel Utilization &amp; Yield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7703" y="1301313"/>
            <a:ext cx="162544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Contact </a:t>
            </a:r>
            <a:r>
              <a:rPr sz="1350" b="1" i="0" u="none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by </a:t>
            </a:r>
            <a:r>
              <a:rPr sz="1350" b="1" i="0" u="none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Channel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625" y="1614499"/>
            <a:ext cx="36000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Subscription Yield % by Channel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625" y="5543550"/>
            <a:ext cx="161582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chemeClr val="tx2">
                    <a:lumMod val="75000"/>
                  </a:schemeClr>
                </a:solidFill>
                <a:latin typeface="Plus Jakarta Sans"/>
              </a:rPr>
              <a:t>Cellular Dominance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625" y="5800725"/>
            <a:ext cx="322584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334155"/>
                </a:solidFill>
                <a:latin typeface="Plus Jakarta Sans"/>
              </a:rPr>
              <a:t>Cellular is the bank’s core operational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channel. It manage 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64.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8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% 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of 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all  outreach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; 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yields highest overall 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subscription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rate (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14.9</a:t>
            </a:r>
            <a:r>
              <a:rPr lang="en-US" sz="1200" b="0" i="0" u="none" dirty="0" smtClean="0">
                <a:solidFill>
                  <a:srgbClr val="334155"/>
                </a:solidFill>
                <a:latin typeface="Plus Jakarta Sans"/>
              </a:rPr>
              <a:t>2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%).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30774" y="5543550"/>
            <a:ext cx="1933222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u="none" dirty="0">
                <a:solidFill>
                  <a:srgbClr val="DC2626"/>
                </a:solidFill>
                <a:latin typeface="Plus Jakarta Sans"/>
              </a:rPr>
              <a:t>Unknown Channel Drain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0774" y="5800725"/>
            <a:ext cx="3225849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 u="none" dirty="0">
                <a:solidFill>
                  <a:srgbClr val="334155"/>
                </a:solidFill>
                <a:latin typeface="Plus Jakarta Sans"/>
              </a:rPr>
              <a:t>13,020 calls with missing channel data produce an abysmal 4.07% conversion</a:t>
            </a:r>
            <a:r>
              <a:rPr sz="1200" b="0" i="0" u="none" dirty="0" smtClean="0">
                <a:solidFill>
                  <a:srgbClr val="334155"/>
                </a:solidFill>
                <a:latin typeface="Plus Jakarta Sans"/>
              </a:rPr>
              <a:t>.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Channel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is actively draining the banks marketing budget and wasting valuable sales hours.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51924" y="5367319"/>
            <a:ext cx="85279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00" b="1" dirty="0">
                <a:solidFill>
                  <a:srgbClr val="005A9C"/>
                </a:solidFill>
                <a:latin typeface="Plus Jakarta Sans"/>
              </a:rPr>
              <a:t>Telephone</a:t>
            </a:r>
            <a:endParaRPr sz="1300" b="1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51924" y="5553049"/>
            <a:ext cx="3225849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This represent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a tiny fraction of the bank’s campaign (2,906 contacts) but deliver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very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solid and stable 13.42% Subscription Rate. The time-to-close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a deal (8.46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minutes) is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identical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to a mobile phone.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The bank should scale up and continue utilizing this  channel.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24625" y="2174656"/>
            <a:ext cx="65723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 smtClean="0">
                <a:solidFill>
                  <a:srgbClr val="0F172A"/>
                </a:solidFill>
                <a:latin typeface="Plus Jakarta Sans"/>
              </a:rPr>
              <a:t>Cellular</a:t>
            </a:r>
            <a:endParaRPr sz="1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93732" y="2174656"/>
            <a:ext cx="164147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05A9C"/>
                </a:solidFill>
                <a:latin typeface="Plus Jakarta Sans"/>
              </a:rPr>
              <a:t>14.91% Conversion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4625" y="3945829"/>
            <a:ext cx="87953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 smtClean="0">
                <a:solidFill>
                  <a:srgbClr val="475569"/>
                </a:solidFill>
                <a:latin typeface="Plus Jakarta Sans"/>
              </a:rPr>
              <a:t>Telephone</a:t>
            </a:r>
            <a:endParaRPr sz="1400" b="1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12782" y="3945829"/>
            <a:ext cx="164147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284C7"/>
                </a:solidFill>
                <a:latin typeface="Plus Jakarta Sans"/>
              </a:rPr>
              <a:t>13.42% Conversion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4625" y="3060940"/>
            <a:ext cx="80470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 smtClean="0">
                <a:solidFill>
                  <a:srgbClr val="DC2626"/>
                </a:solidFill>
                <a:latin typeface="Plus Jakarta Sans"/>
              </a:rPr>
              <a:t>Unknown</a:t>
            </a:r>
            <a:endParaRPr sz="1400" b="1" i="0" u="none" dirty="0">
              <a:solidFill>
                <a:srgbClr val="DC2626"/>
              </a:solidFill>
              <a:latin typeface="Plus Jakarta San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804402" y="3060940"/>
            <a:ext cx="154208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DC2626"/>
                </a:solidFill>
                <a:latin typeface="Plus Jakarta Sans"/>
              </a:rPr>
              <a:t>4.07% Conversion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56" y="1520435"/>
            <a:ext cx="4005943" cy="359762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664320" y="2172558"/>
            <a:ext cx="159178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Subscribers: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4</a:t>
            </a:r>
            <a:r>
              <a:rPr sz="1400" b="1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,</a:t>
            </a:r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36</a:t>
            </a:r>
            <a:r>
              <a:rPr sz="1400" b="1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9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93348" y="3945614"/>
            <a:ext cx="144270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400" b="1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Subscribers: 390</a:t>
            </a:r>
            <a:endParaRPr sz="1400" b="1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707862" y="3049157"/>
            <a:ext cx="144270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400" b="1" dirty="0">
                <a:solidFill>
                  <a:srgbClr val="DC2626"/>
                </a:solidFill>
                <a:latin typeface="Plus Jakarta Sans"/>
              </a:rPr>
              <a:t>Subscribers: 530</a:t>
            </a:r>
            <a:endParaRPr sz="1400" b="1" dirty="0">
              <a:solidFill>
                <a:srgbClr val="DC2626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954862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8238674" y="5936776"/>
            <a:ext cx="3529730" cy="818873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9720" y="848417"/>
            <a:ext cx="243335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Age Group Conversion Curve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441" y="791568"/>
            <a:ext cx="10969943" cy="4995079"/>
          </a:xfrm>
          <a:prstGeom prst="roundRect">
            <a:avLst>
              <a:gd name="adj" fmla="val 38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326" y="1180786"/>
            <a:ext cx="9345600" cy="45242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228600"/>
            <a:ext cx="214962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dirty="0" smtClean="0">
                <a:solidFill>
                  <a:srgbClr val="005A9C"/>
                </a:solidFill>
                <a:latin typeface="Plus Jakarta Sans"/>
              </a:rPr>
              <a:t>CAMPAIGN CHANNEL </a:t>
            </a:r>
            <a:r>
              <a:rPr lang="en-US" sz="1050" b="1" i="0" u="none" dirty="0" smtClean="0">
                <a:solidFill>
                  <a:srgbClr val="005A9C"/>
                </a:solidFill>
                <a:latin typeface="Plus Jakarta Sans"/>
              </a:rPr>
              <a:t>ANALYSIS</a:t>
            </a:r>
            <a:endParaRPr sz="105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565905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Campaign Channel Utilization &amp; Yield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685" y="858866"/>
            <a:ext cx="436844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2000" b="1" i="0" u="none">
                <a:solidFill>
                  <a:schemeClr val="accent1">
                    <a:lumMod val="75000"/>
                  </a:schemeClr>
                </a:solidFill>
                <a:latin typeface="Plus Jakarta Sans"/>
              </a:defRPr>
            </a:lvl1pPr>
          </a:lstStyle>
          <a:p>
            <a:r>
              <a:rPr lang="en-US" sz="1200" dirty="0" smtClean="0"/>
              <a:t>(Subscription </a:t>
            </a:r>
            <a:r>
              <a:rPr lang="en-US" sz="1200" dirty="0"/>
              <a:t>Rate (bar) </a:t>
            </a:r>
            <a:r>
              <a:rPr lang="en-US" sz="1200" dirty="0" err="1"/>
              <a:t>vs</a:t>
            </a:r>
            <a:r>
              <a:rPr lang="en-US" sz="1200" dirty="0"/>
              <a:t> Call Time (</a:t>
            </a:r>
            <a:r>
              <a:rPr lang="en-US" sz="1200" dirty="0" err="1"/>
              <a:t>hrs</a:t>
            </a:r>
            <a:r>
              <a:rPr lang="en-US" sz="1200" dirty="0"/>
              <a:t>) </a:t>
            </a:r>
            <a:r>
              <a:rPr lang="en-US" sz="1200" dirty="0" smtClean="0"/>
              <a:t>line) by Job Type</a:t>
            </a:r>
            <a:endParaRPr sz="1200" dirty="0"/>
          </a:p>
        </p:txBody>
      </p:sp>
      <p:sp>
        <p:nvSpPr>
          <p:cNvPr id="31" name="Rounded Rectangle 30"/>
          <p:cNvSpPr/>
          <p:nvPr/>
        </p:nvSpPr>
        <p:spPr>
          <a:xfrm>
            <a:off x="609441" y="5882185"/>
            <a:ext cx="5370701" cy="818872"/>
          </a:xfrm>
          <a:prstGeom prst="roundRect">
            <a:avLst>
              <a:gd name="adj" fmla="val 1100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08683" y="5882185"/>
            <a:ext cx="5370701" cy="818872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414" y="5903099"/>
            <a:ext cx="1793761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00" b="1" i="0" u="none" dirty="0" smtClean="0">
                <a:solidFill>
                  <a:srgbClr val="991B1B"/>
                </a:solidFill>
                <a:latin typeface="Plus Jakarta Sans"/>
              </a:rPr>
              <a:t>Operational Imbalance</a:t>
            </a:r>
            <a:endParaRPr sz="1300" b="1" i="0" u="none" dirty="0">
              <a:solidFill>
                <a:srgbClr val="991B1B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9414" y="6154871"/>
            <a:ext cx="50659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The best-converting segments/demographics 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Student </a:t>
            </a:r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&amp;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Retired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did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not get enough call hours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08656" y="5889574"/>
            <a:ext cx="2754600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>
                <a:solidFill>
                  <a:schemeClr val="tx2"/>
                </a:solidFill>
                <a:latin typeface="Plus Jakarta Sans"/>
              </a:rPr>
              <a:t>Over-Targeting the Wrong Groups:</a:t>
            </a:r>
            <a:endParaRPr sz="1300" b="1" i="0" u="none" dirty="0">
              <a:solidFill>
                <a:schemeClr val="tx2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8656" y="6127698"/>
            <a:ext cx="517072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334155"/>
                </a:solidFill>
                <a:latin typeface="Plus Jakarta Sans"/>
              </a:rPr>
              <a:t>Sales team spent thousands of hours talking to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middle-aged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professional segments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(</a:t>
            </a:r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Blue-collar 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or </a:t>
            </a:r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Services)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 that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consistently said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“no”. resulting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in massive wasted call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hours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26213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609600" y="228600"/>
            <a:ext cx="214962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dirty="0" smtClean="0">
                <a:solidFill>
                  <a:srgbClr val="005A9C"/>
                </a:solidFill>
                <a:latin typeface="Plus Jakarta Sans"/>
              </a:rPr>
              <a:t>CAMPAIGN CHANNEL </a:t>
            </a:r>
            <a:r>
              <a:rPr lang="en-US" sz="1050" b="1" i="0" u="none" dirty="0" smtClean="0">
                <a:solidFill>
                  <a:srgbClr val="005A9C"/>
                </a:solidFill>
                <a:latin typeface="Plus Jakarta Sans"/>
              </a:rPr>
              <a:t>ANALYSIS</a:t>
            </a:r>
            <a:endParaRPr sz="105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684661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Campaign Channel Utilization </a:t>
            </a:r>
            <a:r>
              <a:rPr lang="en-US" sz="2000" b="1" i="0" u="none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&amp; Call Volume Breakdown</a:t>
            </a:r>
            <a:endParaRPr sz="2000" b="1" i="0" u="none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09441" y="4674798"/>
            <a:ext cx="10350659" cy="1026616"/>
          </a:xfrm>
          <a:prstGeom prst="roundRect">
            <a:avLst>
              <a:gd name="adj" fmla="val 1100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9414" y="4722763"/>
            <a:ext cx="1997342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300" b="1" i="0" u="none" dirty="0" smtClean="0">
                <a:solidFill>
                  <a:srgbClr val="991B1B"/>
                </a:solidFill>
                <a:latin typeface="Plus Jakarta Sans"/>
              </a:rPr>
              <a:t>Labor  &amp; Call Hours Loss</a:t>
            </a:r>
            <a:endParaRPr sz="1300" b="1" i="0" u="none" dirty="0">
              <a:solidFill>
                <a:srgbClr val="991B1B"/>
              </a:solidFill>
              <a:latin typeface="Plus Jakarta San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09414" y="4974535"/>
            <a:ext cx="1002368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Sales team spent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hours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calling 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39,922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customers that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consistently said “no”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with some phones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dialed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multiple  times totaling </a:t>
            </a:r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113,632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calls. With majority of this call going to demographics with low subscription performance and customers with missing/unknown records, phone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calling this list blindly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siphoned </a:t>
            </a:r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90.94%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 of the banks campaign budget.</a:t>
            </a:r>
            <a:endParaRPr lang="en-US" sz="1200" dirty="0">
              <a:solidFill>
                <a:srgbClr val="334155"/>
              </a:solidFill>
              <a:latin typeface="Plus Jakarta San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326956" y="2156737"/>
            <a:ext cx="7421913" cy="1908000"/>
            <a:chOff x="1081480" y="1384227"/>
            <a:chExt cx="7421913" cy="1908000"/>
          </a:xfrm>
        </p:grpSpPr>
        <p:sp>
          <p:nvSpPr>
            <p:cNvPr id="17" name="Rounded Rectangle 16"/>
            <p:cNvSpPr/>
            <p:nvPr/>
          </p:nvSpPr>
          <p:spPr>
            <a:xfrm>
              <a:off x="1087393" y="1384227"/>
              <a:ext cx="7416000" cy="1908000"/>
            </a:xfrm>
            <a:prstGeom prst="roundRect">
              <a:avLst>
                <a:gd name="adj" fmla="val 3892"/>
              </a:avLst>
            </a:prstGeom>
            <a:solidFill>
              <a:srgbClr val="F8FAFC"/>
            </a:solidFill>
            <a:ln w="19050">
              <a:solidFill>
                <a:srgbClr val="23538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388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1480" y="1432878"/>
              <a:ext cx="7297738" cy="1819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10683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09441" y="170592"/>
            <a:ext cx="171200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i="0" u="none" dirty="0" smtClean="0">
                <a:solidFill>
                  <a:srgbClr val="005A9C"/>
                </a:solidFill>
                <a:latin typeface="Plus Jakarta Sans"/>
              </a:rPr>
              <a:t>INVESTMENT CAPABILITY</a:t>
            </a:r>
            <a:endParaRPr sz="105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35" y="482649"/>
            <a:ext cx="238526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b="1" i="0" u="none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Investment Capability</a:t>
            </a:r>
            <a:endParaRPr b="1" i="0" u="none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9101" y="831256"/>
            <a:ext cx="11155835" cy="376632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539101" y="4923180"/>
            <a:ext cx="3681206" cy="1548000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360988" y="4901580"/>
            <a:ext cx="3643528" cy="1548000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461" y="5057548"/>
            <a:ext cx="3039294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166534"/>
                </a:solidFill>
                <a:latin typeface="Plus Jakarta Sans"/>
              </a:rPr>
              <a:t>Loan Default </a:t>
            </a:r>
            <a:r>
              <a:rPr lang="en-US" sz="1300" b="1" dirty="0" smtClean="0">
                <a:solidFill>
                  <a:srgbClr val="166534"/>
                </a:solidFill>
                <a:latin typeface="Plus Jakarta Sans"/>
              </a:rPr>
              <a:t>Status - Strong </a:t>
            </a:r>
            <a:r>
              <a:rPr lang="en-US" sz="1300" b="1" dirty="0">
                <a:solidFill>
                  <a:srgbClr val="166534"/>
                </a:solidFill>
                <a:latin typeface="Plus Jakarta Sans"/>
              </a:rPr>
              <a:t>Predictor</a:t>
            </a:r>
            <a:endParaRPr sz="1300" b="1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2462" y="5311701"/>
            <a:ext cx="325615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Takeaway: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To protect campaign efficiency, minimize outreach to profiles with a recorded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loan default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history.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90620" y="5080126"/>
            <a:ext cx="2239396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 smtClean="0">
                <a:solidFill>
                  <a:srgbClr val="002060"/>
                </a:solidFill>
                <a:latin typeface="Plus Jakarta Sans"/>
              </a:rPr>
              <a:t>Medium </a:t>
            </a:r>
            <a:r>
              <a:rPr lang="en-US" sz="1300" b="1" dirty="0">
                <a:solidFill>
                  <a:srgbClr val="002060"/>
                </a:solidFill>
                <a:latin typeface="Plus Jakarta Sans"/>
              </a:rPr>
              <a:t>Beats </a:t>
            </a:r>
            <a:r>
              <a:rPr lang="en-US" sz="1300" b="1" dirty="0" smtClean="0">
                <a:solidFill>
                  <a:srgbClr val="002060"/>
                </a:solidFill>
                <a:latin typeface="Plus Jakarta Sans"/>
              </a:rPr>
              <a:t>High Balance</a:t>
            </a:r>
            <a:endParaRPr sz="1300" b="1" i="0" u="none" dirty="0">
              <a:solidFill>
                <a:srgbClr val="002060"/>
              </a:solidFill>
              <a:latin typeface="Plus Jakarta San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490620" y="5318250"/>
            <a:ext cx="344355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Takeaway: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 Prioritize the "Medium Balance" demographic. High-balance users might be too selective or using other wealth management channels, while negative-balance users lack the capital to subscribe.</a:t>
            </a:r>
            <a:endParaRPr sz="1200" b="0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121748" y="4901581"/>
            <a:ext cx="3643528" cy="1548000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51380" y="5058527"/>
            <a:ext cx="2712281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166534"/>
                </a:solidFill>
                <a:latin typeface="Plus Jakarta Sans"/>
              </a:rPr>
              <a:t>Debt </a:t>
            </a:r>
            <a:r>
              <a:rPr lang="en-US" sz="1300" b="1" dirty="0" smtClean="0">
                <a:solidFill>
                  <a:srgbClr val="166534"/>
                </a:solidFill>
                <a:latin typeface="Plus Jakarta Sans"/>
              </a:rPr>
              <a:t>Profile Suppress </a:t>
            </a:r>
            <a:r>
              <a:rPr lang="en-US" sz="1300" b="1" dirty="0">
                <a:solidFill>
                  <a:srgbClr val="166534"/>
                </a:solidFill>
                <a:latin typeface="Plus Jakarta Sans"/>
              </a:rPr>
              <a:t>Conversion</a:t>
            </a:r>
            <a:endParaRPr sz="1300" b="1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51380" y="5296651"/>
            <a:ext cx="3443556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Debt-Free 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is King: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 Customers who are completely Debt-Free convert at a stellar 18.22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%. Financial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liability is a massive barrier to a customer saying "yes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. Weigh marketing efforts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toward debt-free individuals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8325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09441" y="170592"/>
            <a:ext cx="240771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i="0" u="none" dirty="0" smtClean="0">
                <a:solidFill>
                  <a:srgbClr val="005A9C"/>
                </a:solidFill>
                <a:latin typeface="Plus Jakarta Sans"/>
              </a:rPr>
              <a:t>CUSTOMER ENGAGEMENT HISTORY</a:t>
            </a:r>
            <a:endParaRPr sz="105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35" y="482649"/>
            <a:ext cx="550150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Historical Engagement (Prior Campaign Outcome)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101" y="1254345"/>
            <a:ext cx="11155835" cy="255338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539101" y="4023453"/>
            <a:ext cx="5452266" cy="1771704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461" y="4122197"/>
            <a:ext cx="288380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166534"/>
                </a:solidFill>
                <a:latin typeface="Plus Jakarta Sans"/>
              </a:rPr>
              <a:t>Prior Campaign Success ('Success')</a:t>
            </a:r>
            <a:endParaRPr sz="1300" b="1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2461" y="4376350"/>
            <a:ext cx="5076403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334155"/>
                </a:solidFill>
                <a:latin typeface="Plus Jakarta Sans"/>
              </a:rPr>
              <a:t>Clients who subscribed in previous campaigns convert at an astounding 64.73% rate (963 subscribers out of 1,511 contacts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).</a:t>
            </a:r>
          </a:p>
          <a:p>
            <a:endParaRPr lang="en-US" sz="1400" dirty="0">
              <a:solidFill>
                <a:srgbClr val="334155"/>
              </a:solidFill>
              <a:latin typeface="Plus Jakarta Sans"/>
            </a:endParaRPr>
          </a:p>
          <a:p>
            <a:pPr>
              <a:defRPr sz="1050" b="1">
                <a:solidFill>
                  <a:srgbClr val="00A3E0"/>
                </a:solidFill>
              </a:defRPr>
            </a:pPr>
            <a:r>
              <a:rPr lang="en-US" sz="1300" b="1" dirty="0">
                <a:solidFill>
                  <a:srgbClr val="166534"/>
                </a:solidFill>
                <a:latin typeface="Plus Jakarta Sans"/>
              </a:rPr>
              <a:t>Previous Failures </a:t>
            </a:r>
            <a:r>
              <a:rPr lang="en-US" sz="1300" b="1" dirty="0" smtClean="0">
                <a:solidFill>
                  <a:srgbClr val="166534"/>
                </a:solidFill>
                <a:latin typeface="Plus Jakarta Sans"/>
              </a:rPr>
              <a:t>(Failure)</a:t>
            </a:r>
            <a:endParaRPr lang="en-US" sz="1300" b="1" dirty="0">
              <a:solidFill>
                <a:srgbClr val="166534"/>
              </a:solidFill>
              <a:latin typeface="Plus Jakarta Sans"/>
            </a:endParaRPr>
          </a:p>
          <a:p>
            <a:pPr>
              <a:spcAft>
                <a:spcPts val="800"/>
              </a:spcAft>
              <a:defRPr sz="900">
                <a:solidFill>
                  <a:srgbClr val="141E2D"/>
                </a:solidFill>
              </a:defRPr>
            </a:pPr>
            <a:r>
              <a:rPr lang="en-US" sz="1200" dirty="0">
                <a:solidFill>
                  <a:srgbClr val="334155"/>
                </a:solidFill>
                <a:latin typeface="Plus Jakarta Sans"/>
              </a:rPr>
              <a:t>Clients with non-conversion past history convert at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12.61% upon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re-engagement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.</a:t>
            </a:r>
            <a:endParaRPr lang="en-US" sz="1200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14140" y="4016904"/>
            <a:ext cx="5580795" cy="1778253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43773" y="4138226"/>
            <a:ext cx="254396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400" b="1" dirty="0" smtClean="0">
                <a:solidFill>
                  <a:srgbClr val="166534"/>
                </a:solidFill>
                <a:latin typeface="Plus Jakarta Sans"/>
              </a:rPr>
              <a:t>Relationship Equity is Strong </a:t>
            </a:r>
            <a:endParaRPr sz="1400" b="1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43773" y="4376350"/>
            <a:ext cx="5111164" cy="1323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 smtClean="0">
                <a:solidFill>
                  <a:srgbClr val="334155"/>
                </a:solidFill>
                <a:latin typeface="Plus Jakarta Sans"/>
              </a:rPr>
              <a:t>Historical </a:t>
            </a:r>
            <a:r>
              <a:rPr lang="en-US" sz="1300" b="1" dirty="0">
                <a:solidFill>
                  <a:srgbClr val="334155"/>
                </a:solidFill>
                <a:latin typeface="Plus Jakarta Sans"/>
              </a:rPr>
              <a:t>Leads: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This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segment of customers require the shortest talk time to win a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conversion,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call agents only need to speak with them for an average of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6.78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minutes. They already trust the brand,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hence, sales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pitch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is short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and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direct.</a:t>
            </a:r>
          </a:p>
          <a:p>
            <a:endParaRPr lang="en-US" sz="1200" dirty="0" smtClean="0">
              <a:solidFill>
                <a:srgbClr val="334155"/>
              </a:solidFill>
              <a:latin typeface="Plus Jakarta Sans"/>
            </a:endParaRPr>
          </a:p>
          <a:p>
            <a:r>
              <a:rPr lang="en-US" sz="1300" b="1" dirty="0" smtClean="0">
                <a:solidFill>
                  <a:srgbClr val="334155"/>
                </a:solidFill>
                <a:latin typeface="Plus Jakarta Sans"/>
              </a:rPr>
              <a:t>Brand </a:t>
            </a:r>
            <a:r>
              <a:rPr lang="en-US" sz="1300" b="1" dirty="0">
                <a:solidFill>
                  <a:srgbClr val="334155"/>
                </a:solidFill>
                <a:latin typeface="Plus Jakarta Sans"/>
              </a:rPr>
              <a:t>New Leads: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To win a subscription from a brand-new lead, call agents have to talk for a massive average of 10.17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minutes.</a:t>
            </a:r>
            <a:endParaRPr lang="en-US" sz="1200" dirty="0">
              <a:solidFill>
                <a:srgbClr val="334155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317373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09441" y="170592"/>
            <a:ext cx="179376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05A9C"/>
                </a:solidFill>
                <a:latin typeface="Plus Jakarta Sans"/>
              </a:rPr>
              <a:t>T</a:t>
            </a:r>
            <a:r>
              <a:rPr lang="en-US" sz="1050" b="1" i="0" u="none" dirty="0" smtClean="0">
                <a:solidFill>
                  <a:srgbClr val="005A9C"/>
                </a:solidFill>
                <a:latin typeface="Plus Jakarta Sans"/>
              </a:rPr>
              <a:t>IMING AND SEASONALITY</a:t>
            </a:r>
            <a:endParaRPr sz="105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35" y="482649"/>
            <a:ext cx="492012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Review Period Top 3 Performing Job Profiles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32814" y="27296"/>
            <a:ext cx="4954136" cy="674199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54693" y="3942520"/>
            <a:ext cx="5536674" cy="1674509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0572" y="1307680"/>
            <a:ext cx="5580795" cy="2112410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205" y="1482171"/>
            <a:ext cx="3206006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 smtClean="0">
                <a:solidFill>
                  <a:srgbClr val="166534"/>
                </a:solidFill>
                <a:latin typeface="Plus Jakarta Sans"/>
              </a:rPr>
              <a:t>Students </a:t>
            </a:r>
            <a:r>
              <a:rPr lang="en-US" sz="1300" b="1" dirty="0">
                <a:solidFill>
                  <a:srgbClr val="166534"/>
                </a:solidFill>
                <a:latin typeface="Plus Jakarta Sans"/>
              </a:rPr>
              <a:t>and </a:t>
            </a:r>
            <a:r>
              <a:rPr lang="en-US" sz="1300" b="1" dirty="0" smtClean="0">
                <a:solidFill>
                  <a:srgbClr val="166534"/>
                </a:solidFill>
                <a:latin typeface="Plus Jakarta Sans"/>
              </a:rPr>
              <a:t>Retired Profiles </a:t>
            </a:r>
            <a:r>
              <a:rPr lang="en-US" sz="1300" b="1" dirty="0">
                <a:solidFill>
                  <a:srgbClr val="166534"/>
                </a:solidFill>
                <a:latin typeface="Plus Jakarta Sans"/>
              </a:rPr>
              <a:t>Dominant </a:t>
            </a:r>
            <a:endParaRPr sz="1300" b="1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0205" y="1734363"/>
            <a:ext cx="511116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Out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of the 12 months in the year,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 Students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hit the Top 3 list 8 times, and 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Retired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individuals hit it 6 times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033" y="4086455"/>
            <a:ext cx="4089838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 smtClean="0">
                <a:solidFill>
                  <a:srgbClr val="C00000"/>
                </a:solidFill>
                <a:latin typeface="Plus Jakarta Sans"/>
              </a:rPr>
              <a:t>Extreme Subscription Spikes With Low Call Volume</a:t>
            </a:r>
            <a:endParaRPr sz="1300" b="1" dirty="0">
              <a:solidFill>
                <a:srgbClr val="C00000"/>
              </a:solidFill>
              <a:latin typeface="Plus Jakarta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5033" y="4366783"/>
            <a:ext cx="5111164" cy="1138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Month 3 (Entrepreneur):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100.00%  subscription rate (2 contacts)</a:t>
            </a:r>
          </a:p>
          <a:p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Month 4 (Unknown):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85.71% subscription rate (7 contacts)</a:t>
            </a:r>
          </a:p>
          <a:p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Month 12 (Unemployed):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75.00% subscription rate (8 contacts)</a:t>
            </a:r>
          </a:p>
          <a:p>
            <a:endParaRPr lang="en-US" sz="1200" dirty="0" smtClean="0">
              <a:solidFill>
                <a:srgbClr val="334155"/>
              </a:solidFill>
              <a:latin typeface="Plus Jakarta Sans"/>
            </a:endParaRPr>
          </a:p>
          <a:p>
            <a:r>
              <a:rPr lang="en-US" sz="1200" b="1" dirty="0">
                <a:solidFill>
                  <a:srgbClr val="C00000"/>
                </a:solidFill>
                <a:latin typeface="Plus Jakarta Sans"/>
              </a:rPr>
              <a:t>Key Takeaway: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While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subscription rate is, the small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audience sizes cannot sustain a massive bank campaign</a:t>
            </a:r>
            <a:r>
              <a:rPr lang="en-US" sz="1400" dirty="0" smtClean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205" y="2288805"/>
            <a:ext cx="4683526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166534"/>
                </a:solidFill>
                <a:latin typeface="Plus Jakarta Sans"/>
              </a:defRPr>
            </a:lvl1pPr>
          </a:lstStyle>
          <a:p>
            <a:r>
              <a:rPr lang="en-US" sz="1300" dirty="0" smtClean="0"/>
              <a:t>Management </a:t>
            </a:r>
            <a:r>
              <a:rPr lang="en-US" sz="1300" dirty="0"/>
              <a:t>&amp; </a:t>
            </a:r>
            <a:r>
              <a:rPr lang="en-US" sz="1300" dirty="0" smtClean="0"/>
              <a:t>Admin High - Volume  Valuable to The Bank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540205" y="2565711"/>
            <a:ext cx="5111164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rgbClr val="334155"/>
                </a:solidFill>
                <a:latin typeface="Plus Jakarta Sans"/>
              </a:rPr>
              <a:t>Management (Months 3, 6, 9) and Admin (Months 8, 12) represent massive pools of potential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customers. With subscription rate above the banks baseline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,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they are more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valuable to the bank's bottom line than 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profiles with a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100% conversion rate on 2 contacts.</a:t>
            </a:r>
            <a:endParaRPr lang="en-US" sz="1200" dirty="0" smtClean="0">
              <a:solidFill>
                <a:srgbClr val="334155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4283780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09441" y="170592"/>
            <a:ext cx="12166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dirty="0" smtClean="0">
                <a:solidFill>
                  <a:srgbClr val="005A9C"/>
                </a:solidFill>
                <a:latin typeface="Plus Jakarta Sans"/>
              </a:rPr>
              <a:t>PRIORITY TIERING</a:t>
            </a:r>
            <a:endParaRPr sz="105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35" y="482649"/>
            <a:ext cx="119263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Job Profile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2996" y="2502950"/>
            <a:ext cx="4120697" cy="839998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7423" y="2582442"/>
            <a:ext cx="933141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 smtClean="0">
                <a:solidFill>
                  <a:srgbClr val="166534"/>
                </a:solidFill>
                <a:latin typeface="Plus Jakarta Sans"/>
              </a:rPr>
              <a:t>Priority Tier</a:t>
            </a:r>
            <a:endParaRPr sz="1300" b="1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6239" y="2812562"/>
            <a:ext cx="392182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Tier </a:t>
            </a:r>
            <a:r>
              <a:rPr lang="en-US" sz="1200" b="1" dirty="0">
                <a:solidFill>
                  <a:srgbClr val="334155"/>
                </a:solidFill>
                <a:latin typeface="Plus Jakarta Sans"/>
              </a:rPr>
              <a:t>1 and </a:t>
            </a:r>
            <a:r>
              <a:rPr lang="en-US" sz="1200" b="1" dirty="0" smtClean="0">
                <a:solidFill>
                  <a:srgbClr val="334155"/>
                </a:solidFill>
                <a:latin typeface="Plus Jakarta Sans"/>
              </a:rPr>
              <a:t>2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 are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the banks high performing demographics to maximize total campaign revenue.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701898" y="759647"/>
            <a:ext cx="6012000" cy="5148000"/>
            <a:chOff x="5551770" y="759647"/>
            <a:chExt cx="6012000" cy="5148000"/>
          </a:xfrm>
        </p:grpSpPr>
        <p:sp>
          <p:nvSpPr>
            <p:cNvPr id="2" name="Rounded Rectangle 1"/>
            <p:cNvSpPr/>
            <p:nvPr/>
          </p:nvSpPr>
          <p:spPr>
            <a:xfrm>
              <a:off x="5551770" y="759647"/>
              <a:ext cx="6012000" cy="5148000"/>
            </a:xfrm>
            <a:prstGeom prst="roundRect">
              <a:avLst>
                <a:gd name="adj" fmla="val 0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9066" y="800592"/>
              <a:ext cx="5966234" cy="5084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0530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09441" y="170592"/>
            <a:ext cx="12166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dirty="0" smtClean="0">
                <a:solidFill>
                  <a:srgbClr val="005A9C"/>
                </a:solidFill>
                <a:latin typeface="Plus Jakarta Sans"/>
              </a:rPr>
              <a:t>PRIORITY TIERING</a:t>
            </a:r>
            <a:endParaRPr sz="105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35" y="482649"/>
            <a:ext cx="129522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Debt Profile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29771" y="2476225"/>
            <a:ext cx="4120697" cy="1680131"/>
          </a:xfrm>
          <a:prstGeom prst="roundRect">
            <a:avLst>
              <a:gd name="adj" fmla="val 1100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50923" y="2536417"/>
            <a:ext cx="1699183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300" b="1" dirty="0" smtClean="0">
                <a:solidFill>
                  <a:srgbClr val="166534"/>
                </a:solidFill>
                <a:latin typeface="Plus Jakarta Sans"/>
              </a:rPr>
              <a:t>Debt-Free Customers</a:t>
            </a:r>
            <a:endParaRPr sz="1300" b="1" dirty="0">
              <a:solidFill>
                <a:srgbClr val="166534"/>
              </a:solidFill>
              <a:latin typeface="Plus Jakarta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9739" y="2766537"/>
            <a:ext cx="3921829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Debt-Free customers are </a:t>
            </a:r>
            <a:r>
              <a:rPr lang="en-US" sz="1200" dirty="0" err="1" smtClean="0">
                <a:solidFill>
                  <a:srgbClr val="334155"/>
                </a:solidFill>
                <a:latin typeface="Plus Jakarta Sans"/>
              </a:rPr>
              <a:t>Caixa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 Bank most responsive and lucrative segment. 1 in 5 Debt-Free Customer subscribe, converting  at 18.22%. </a:t>
            </a:r>
          </a:p>
          <a:p>
            <a:endParaRPr lang="en-US" sz="1200" dirty="0">
              <a:solidFill>
                <a:srgbClr val="334155"/>
              </a:solidFill>
              <a:latin typeface="Plus Jakarta Sans"/>
            </a:endParaRPr>
          </a:p>
          <a:p>
            <a:r>
              <a:rPr lang="en-US" sz="1200" dirty="0">
                <a:solidFill>
                  <a:srgbClr val="334155"/>
                </a:solidFill>
                <a:latin typeface="Plus Jakarta Sans"/>
              </a:rPr>
              <a:t>T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hey </a:t>
            </a:r>
            <a:r>
              <a:rPr lang="en-US" sz="1200" dirty="0">
                <a:solidFill>
                  <a:srgbClr val="334155"/>
                </a:solidFill>
                <a:latin typeface="Plus Jakarta Sans"/>
              </a:rPr>
              <a:t>are not burning cash on monthly interest payments, they have surplus capital available to lock away into the bank’s term deposits to earn interest</a:t>
            </a:r>
            <a:r>
              <a:rPr lang="en-US" sz="1200" dirty="0" smtClean="0">
                <a:solidFill>
                  <a:srgbClr val="334155"/>
                </a:solidFill>
                <a:latin typeface="Plus Jakarta Sans"/>
              </a:rPr>
              <a:t>.</a:t>
            </a:r>
            <a:endParaRPr lang="en-US" sz="1200" dirty="0">
              <a:solidFill>
                <a:srgbClr val="334155"/>
              </a:solidFill>
              <a:latin typeface="Plus Jakarta San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769066" y="2066366"/>
            <a:ext cx="5580000" cy="2376000"/>
            <a:chOff x="6005556" y="2050600"/>
            <a:chExt cx="5580000" cy="2376000"/>
          </a:xfrm>
        </p:grpSpPr>
        <p:sp>
          <p:nvSpPr>
            <p:cNvPr id="2" name="Rounded Rectangle 1"/>
            <p:cNvSpPr/>
            <p:nvPr/>
          </p:nvSpPr>
          <p:spPr>
            <a:xfrm>
              <a:off x="6005556" y="2050600"/>
              <a:ext cx="5580000" cy="2376000"/>
            </a:xfrm>
            <a:prstGeom prst="roundRect">
              <a:avLst>
                <a:gd name="adj" fmla="val 0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5372" y="2077908"/>
              <a:ext cx="5520568" cy="23416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5951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09441" y="170592"/>
            <a:ext cx="200375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50" b="1" dirty="0" smtClean="0">
                <a:solidFill>
                  <a:srgbClr val="005A9C"/>
                </a:solidFill>
                <a:latin typeface="Plus Jakarta Sans"/>
              </a:rPr>
              <a:t>MISSING/UNKNOWN CONTEXT</a:t>
            </a:r>
            <a:endParaRPr sz="1050" b="1" i="0" u="none" dirty="0">
              <a:solidFill>
                <a:srgbClr val="005A9C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2635" y="482649"/>
            <a:ext cx="5121017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Plus Jakarta Sans"/>
              </a:rPr>
              <a:t>Missing Data Gaps Across Critical Dimensions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Plus Jakarta San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403781" y="2814350"/>
            <a:ext cx="9130229" cy="1520144"/>
            <a:chOff x="915035" y="2814350"/>
            <a:chExt cx="9130229" cy="1520144"/>
          </a:xfrm>
        </p:grpSpPr>
        <p:sp>
          <p:nvSpPr>
            <p:cNvPr id="19" name="Rounded Rectangle 18"/>
            <p:cNvSpPr/>
            <p:nvPr/>
          </p:nvSpPr>
          <p:spPr>
            <a:xfrm>
              <a:off x="915035" y="2814350"/>
              <a:ext cx="9130229" cy="1520144"/>
            </a:xfrm>
            <a:prstGeom prst="roundRect">
              <a:avLst>
                <a:gd name="adj" fmla="val 11009"/>
              </a:avLst>
            </a:prstGeom>
            <a:solidFill>
              <a:srgbClr val="F0FDF4"/>
            </a:solidFill>
            <a:ln w="9525">
              <a:solidFill>
                <a:srgbClr val="BBF7D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823" y="2874542"/>
              <a:ext cx="2463816" cy="20005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300" b="1" dirty="0" smtClean="0">
                  <a:solidFill>
                    <a:srgbClr val="166534"/>
                  </a:solidFill>
                  <a:latin typeface="Plus Jakarta Sans"/>
                </a:rPr>
                <a:t>Unknown &amp; Missing Data Gaps</a:t>
              </a:r>
              <a:endParaRPr sz="1300" b="1" dirty="0">
                <a:solidFill>
                  <a:srgbClr val="166534"/>
                </a:solidFill>
                <a:latin typeface="Plus Jakarta San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61939" y="3104662"/>
              <a:ext cx="8753561" cy="11079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1200" dirty="0" smtClean="0">
                  <a:solidFill>
                    <a:srgbClr val="334155"/>
                  </a:solidFill>
                  <a:latin typeface="Plus Jakarta Sans"/>
                </a:rPr>
                <a:t>Data gaps </a:t>
              </a:r>
              <a:r>
                <a:rPr lang="en-US" sz="1200" dirty="0">
                  <a:solidFill>
                    <a:srgbClr val="334155"/>
                  </a:solidFill>
                  <a:latin typeface="Plus Jakarta Sans"/>
                </a:rPr>
                <a:t>are costing </a:t>
              </a:r>
              <a:r>
                <a:rPr lang="en-US" sz="1200" dirty="0" err="1" smtClean="0">
                  <a:solidFill>
                    <a:srgbClr val="334155"/>
                  </a:solidFill>
                  <a:latin typeface="Plus Jakarta Sans"/>
                </a:rPr>
                <a:t>CaixaBank</a:t>
              </a:r>
              <a:r>
                <a:rPr lang="en-US" sz="1200" dirty="0" smtClean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lang="en-US" sz="1200" dirty="0">
                  <a:solidFill>
                    <a:srgbClr val="334155"/>
                  </a:solidFill>
                  <a:latin typeface="Plus Jakarta Sans"/>
                </a:rPr>
                <a:t>massive efficiency leaks, particularly in the </a:t>
              </a:r>
              <a:r>
                <a:rPr lang="en-US" sz="1200" dirty="0" smtClean="0">
                  <a:solidFill>
                    <a:srgbClr val="334155"/>
                  </a:solidFill>
                  <a:latin typeface="Plus Jakarta Sans"/>
                </a:rPr>
                <a:t>contact channel </a:t>
              </a:r>
              <a:r>
                <a:rPr lang="en-US" sz="1200" b="1" dirty="0" smtClean="0">
                  <a:solidFill>
                    <a:srgbClr val="334155"/>
                  </a:solidFill>
                  <a:latin typeface="Plus Jakarta Sans"/>
                </a:rPr>
                <a:t>13,020</a:t>
              </a:r>
              <a:r>
                <a:rPr lang="en-US" sz="1200" dirty="0" smtClean="0">
                  <a:solidFill>
                    <a:srgbClr val="334155"/>
                  </a:solidFill>
                  <a:latin typeface="Plus Jakarta Sans"/>
                </a:rPr>
                <a:t> and (</a:t>
              </a:r>
              <a:r>
                <a:rPr lang="en-US" sz="1200" dirty="0" err="1" smtClean="0">
                  <a:solidFill>
                    <a:srgbClr val="334155"/>
                  </a:solidFill>
                  <a:latin typeface="Plus Jakarta Sans"/>
                </a:rPr>
                <a:t>poutcome</a:t>
              </a:r>
              <a:r>
                <a:rPr lang="en-US" sz="1200" dirty="0" smtClean="0">
                  <a:solidFill>
                    <a:srgbClr val="334155"/>
                  </a:solidFill>
                  <a:latin typeface="Plus Jakarta Sans"/>
                </a:rPr>
                <a:t>) previous outcome </a:t>
              </a:r>
              <a:r>
                <a:rPr lang="en-US" sz="1200" b="1" dirty="0" smtClean="0">
                  <a:solidFill>
                    <a:srgbClr val="334155"/>
                  </a:solidFill>
                  <a:latin typeface="Plus Jakarta Sans"/>
                </a:rPr>
                <a:t>36,959 </a:t>
              </a:r>
              <a:r>
                <a:rPr lang="en-US" sz="1200" dirty="0" smtClean="0">
                  <a:solidFill>
                    <a:srgbClr val="334155"/>
                  </a:solidFill>
                  <a:latin typeface="Plus Jakarta Sans"/>
                </a:rPr>
                <a:t>fields</a:t>
              </a:r>
              <a:r>
                <a:rPr lang="en-US" sz="1200" dirty="0">
                  <a:solidFill>
                    <a:srgbClr val="334155"/>
                  </a:solidFill>
                  <a:latin typeface="Plus Jakarta Sans"/>
                </a:rPr>
                <a:t>. </a:t>
              </a:r>
              <a:endParaRPr lang="en-US" sz="1200" dirty="0" smtClean="0">
                <a:solidFill>
                  <a:srgbClr val="334155"/>
                </a:solidFill>
                <a:latin typeface="Plus Jakarta Sans"/>
              </a:endParaRPr>
            </a:p>
            <a:p>
              <a:endParaRPr lang="en-US" sz="1200" dirty="0">
                <a:solidFill>
                  <a:srgbClr val="334155"/>
                </a:solidFill>
                <a:latin typeface="Plus Jakarta Sans"/>
              </a:endParaRPr>
            </a:p>
            <a:p>
              <a:r>
                <a:rPr lang="en-US" sz="1200" b="1" dirty="0" smtClean="0">
                  <a:solidFill>
                    <a:srgbClr val="334155"/>
                  </a:solidFill>
                  <a:latin typeface="Plus Jakarta Sans"/>
                </a:rPr>
                <a:t>(</a:t>
              </a:r>
              <a:r>
                <a:rPr lang="en-US" sz="1200" b="1" dirty="0" err="1">
                  <a:solidFill>
                    <a:srgbClr val="334155"/>
                  </a:solidFill>
                  <a:latin typeface="Plus Jakarta Sans"/>
                </a:rPr>
                <a:t>poutcome</a:t>
              </a:r>
              <a:r>
                <a:rPr lang="en-US" sz="1200" b="1" dirty="0">
                  <a:solidFill>
                    <a:srgbClr val="334155"/>
                  </a:solidFill>
                  <a:latin typeface="Plus Jakarta Sans"/>
                </a:rPr>
                <a:t>):</a:t>
              </a:r>
              <a:r>
                <a:rPr lang="en-US" sz="1200" dirty="0">
                  <a:solidFill>
                    <a:srgbClr val="334155"/>
                  </a:solidFill>
                  <a:latin typeface="Plus Jakarta Sans"/>
                </a:rPr>
                <a:t> A massive 36,959 rows are marked as unknown. While this group generated 3,386 subscriptions, their Subscription Rate is a low 9.16% (3,386 ÷ 36,959</a:t>
              </a:r>
              <a:r>
                <a:rPr lang="en-US" sz="1200" dirty="0" smtClean="0">
                  <a:solidFill>
                    <a:srgbClr val="334155"/>
                  </a:solidFill>
                  <a:latin typeface="Plus Jakarta Sans"/>
                </a:rPr>
                <a:t>), confirming </a:t>
              </a:r>
              <a:r>
                <a:rPr lang="en-US" sz="1200" dirty="0">
                  <a:solidFill>
                    <a:srgbClr val="334155"/>
                  </a:solidFill>
                  <a:latin typeface="Plus Jakarta Sans"/>
                </a:rPr>
                <a:t>that when the bank doesn't track a lead's historical relationship, </a:t>
              </a:r>
              <a:r>
                <a:rPr lang="en-US" sz="1200" dirty="0" smtClean="0">
                  <a:solidFill>
                    <a:srgbClr val="334155"/>
                  </a:solidFill>
                  <a:latin typeface="Plus Jakarta Sans"/>
                </a:rPr>
                <a:t>call agents </a:t>
              </a:r>
              <a:r>
                <a:rPr lang="en-US" sz="1200" dirty="0">
                  <a:solidFill>
                    <a:srgbClr val="334155"/>
                  </a:solidFill>
                  <a:latin typeface="Plus Jakarta Sans"/>
                </a:rPr>
                <a:t>are flying blind and getting rejected 91% of the time.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32450" y="1671044"/>
            <a:ext cx="10440000" cy="828000"/>
            <a:chOff x="832450" y="1096168"/>
            <a:chExt cx="10440000" cy="828000"/>
          </a:xfrm>
        </p:grpSpPr>
        <p:sp>
          <p:nvSpPr>
            <p:cNvPr id="2" name="Rounded Rectangle 1"/>
            <p:cNvSpPr/>
            <p:nvPr/>
          </p:nvSpPr>
          <p:spPr>
            <a:xfrm>
              <a:off x="832450" y="1096168"/>
              <a:ext cx="10440000" cy="828000"/>
            </a:xfrm>
            <a:prstGeom prst="roundRect">
              <a:avLst>
                <a:gd name="adj" fmla="val 0"/>
              </a:avLst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194" name="Picture 2" descr="C:\Users\DAVID\Documents\Portfolio Projects\Bank Marketing Analytics Project\images\dashboard viz\unknown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250" y="1146547"/>
              <a:ext cx="10344150" cy="754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66260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329" y="365760"/>
            <a:ext cx="10695694" cy="52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A3E0"/>
                </a:solidFill>
              </a:defRPr>
            </a:pPr>
            <a:r>
              <a:rPr sz="1050" b="1" dirty="0">
                <a:solidFill>
                  <a:srgbClr val="005A9C"/>
                </a:solidFill>
                <a:latin typeface="Plus Jakarta Sans"/>
              </a:rPr>
              <a:t>CAIXABANK TELEMARKETING CAMPAIGN REVIEW</a:t>
            </a:r>
          </a:p>
          <a:p>
            <a:pPr>
              <a:defRPr sz="2200" b="1">
                <a:solidFill>
                  <a:srgbClr val="002B49"/>
                </a:solidFill>
              </a:defRPr>
            </a:pPr>
            <a:r>
              <a:rPr dirty="0">
                <a:latin typeface="Plus Jakarta Sans"/>
              </a:rPr>
              <a:t>Strategic </a:t>
            </a:r>
            <a:r>
              <a:rPr dirty="0" smtClean="0">
                <a:latin typeface="Plus Jakarta Sans"/>
              </a:rPr>
              <a:t>Roadmap</a:t>
            </a:r>
            <a:r>
              <a:rPr lang="en-US" dirty="0" smtClean="0">
                <a:latin typeface="Plus Jakarta Sans"/>
              </a:rPr>
              <a:t>, </a:t>
            </a:r>
            <a:r>
              <a:rPr dirty="0" smtClean="0">
                <a:latin typeface="Plus Jakarta Sans"/>
              </a:rPr>
              <a:t>Operational Recommendations</a:t>
            </a:r>
            <a:r>
              <a:rPr lang="en-US" dirty="0" smtClean="0">
                <a:latin typeface="Plus Jakarta Sans"/>
              </a:rPr>
              <a:t> &amp; Actio</a:t>
            </a:r>
            <a:r>
              <a:rPr lang="en-US" dirty="0">
                <a:latin typeface="Plus Jakarta Sans"/>
              </a:rPr>
              <a:t>n</a:t>
            </a:r>
            <a:endParaRPr dirty="0">
              <a:latin typeface="Plus Jakarta San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0704" y="1003701"/>
            <a:ext cx="10983600" cy="5527727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163" y="1196305"/>
            <a:ext cx="1036019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2B49"/>
                </a:solidFill>
              </a:defRPr>
            </a:pPr>
            <a:r>
              <a:rPr sz="1400" dirty="0" smtClean="0"/>
              <a:t> </a:t>
            </a:r>
            <a:r>
              <a:rPr lang="en-US" sz="1600" dirty="0" smtClean="0"/>
              <a:t>Immediate Actions for The Next Campaign</a:t>
            </a:r>
            <a:endParaRPr sz="1600" dirty="0"/>
          </a:p>
          <a:p>
            <a:pPr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sz="1400" dirty="0"/>
              <a:t>• </a:t>
            </a:r>
            <a:r>
              <a:rPr lang="en-US" sz="1400" b="1" dirty="0"/>
              <a:t>Operational Resource Shift: </a:t>
            </a:r>
            <a:r>
              <a:rPr lang="en-US" sz="1400" dirty="0"/>
              <a:t>Reallocate 85% of live agent calling hours to Tier 1 Demographics (Students/Retired) and Warm Contacts (&gt;30 days since interaction</a:t>
            </a:r>
            <a:r>
              <a:rPr lang="en-US" sz="1400" dirty="0" smtClean="0"/>
              <a:t>).</a:t>
            </a:r>
          </a:p>
          <a:p>
            <a:pPr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Filter out low-balance accounts, focus outbound calls strictly on clients in the </a:t>
            </a:r>
            <a:r>
              <a:rPr lang="en-US" sz="1400" b="1" dirty="0"/>
              <a:t>Medium Balance Group</a:t>
            </a:r>
            <a:r>
              <a:rPr lang="en-US" sz="1400" dirty="0"/>
              <a:t>: $1,804 – $5,000  with active no loans prior to campaign launch.</a:t>
            </a:r>
            <a:endParaRPr lang="en-US" sz="1400" dirty="0" smtClean="0"/>
          </a:p>
          <a:p>
            <a:pPr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 smtClean="0"/>
              <a:t>• </a:t>
            </a:r>
            <a:r>
              <a:rPr lang="en-US" sz="1400" dirty="0"/>
              <a:t>Deprioritize massive phone/outreach campaigns to </a:t>
            </a:r>
            <a:r>
              <a:rPr lang="en-US" sz="1400" b="1" dirty="0" smtClean="0"/>
              <a:t>Tier 4 </a:t>
            </a:r>
            <a:r>
              <a:rPr lang="en-US" sz="1400" dirty="0" smtClean="0"/>
              <a:t>. </a:t>
            </a:r>
            <a:r>
              <a:rPr lang="en-US" sz="1400" dirty="0"/>
              <a:t>Use low-cost, fully automated email or SMS track rather than wasting expensive   live telemarketing agent hours </a:t>
            </a:r>
            <a:r>
              <a:rPr lang="en-US" sz="1400" dirty="0" smtClean="0"/>
              <a:t>and labor on </a:t>
            </a:r>
            <a:r>
              <a:rPr lang="en-US" sz="1400" dirty="0"/>
              <a:t>them.</a:t>
            </a:r>
            <a:endParaRPr lang="en-US" sz="1400" dirty="0" smtClean="0"/>
          </a:p>
          <a:p>
            <a:pPr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</a:t>
            </a:r>
            <a:r>
              <a:rPr lang="en-US" sz="1400" dirty="0" smtClean="0"/>
              <a:t>Reduce </a:t>
            </a:r>
            <a:r>
              <a:rPr lang="en-US" sz="1400" dirty="0"/>
              <a:t>call volume in May by 50% and shift telemarketing agents to March, September, and Q4 windows</a:t>
            </a:r>
            <a:r>
              <a:rPr lang="en-US" sz="1400" dirty="0" smtClean="0"/>
              <a:t>.</a:t>
            </a:r>
          </a:p>
          <a:p>
            <a:pPr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Institute a strict 3-call limit per customer contact cycle to eliminate lead burnout</a:t>
            </a:r>
            <a:r>
              <a:rPr lang="en-US" sz="1400" dirty="0" smtClean="0"/>
              <a:t>.</a:t>
            </a:r>
          </a:p>
          <a:p>
            <a:pPr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Maintain Cellular as baseline communication channel. It offers the best combination of volume 64.8% of all outreach , speed-to-close 8.39 minutes, and conversion probability 14.92%. </a:t>
            </a:r>
          </a:p>
          <a:p>
            <a:pPr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•Continue utilizing Telephone channel. Though it represent a tiny fraction of the bank’s campaign (2,906 contacts), it deliver a very solid and stable 13.42% Subscription Rate.</a:t>
            </a:r>
          </a:p>
          <a:p>
            <a:pPr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</a:t>
            </a:r>
            <a:r>
              <a:rPr lang="en-US" sz="1400" dirty="0" smtClean="0"/>
              <a:t>Discontinue Unknown  Contact Channels, it is </a:t>
            </a:r>
            <a:r>
              <a:rPr lang="en-US" sz="1400" dirty="0"/>
              <a:t>actively draining the banks marketing budget and wasting valuable sales hours because of poorly logged outreach attempts. </a:t>
            </a:r>
            <a:endParaRPr lang="en-US" sz="1400" dirty="0" smtClean="0"/>
          </a:p>
          <a:p>
            <a:pPr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Implement a "Talk-Time Cap" Rule: Since "Unknown" calls stretch to 14 minutes, if a call on an unverified channel crosses the 9-minute mark without a clear commitment or closing path, the agent must politely end the call to reclaim sales capacity</a:t>
            </a:r>
            <a:r>
              <a:rPr lang="en-US" sz="1400" dirty="0" smtClean="0"/>
              <a:t>.</a:t>
            </a:r>
          </a:p>
          <a:p>
            <a:pPr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Establish monthly campaign capacity caps based on historical seasonal conversion. Limit determined by how well customers historically convert during that specific month</a:t>
            </a:r>
            <a:r>
              <a:rPr lang="en-US" sz="1400" dirty="0" smtClean="0"/>
              <a:t>.</a:t>
            </a:r>
          </a:p>
          <a:p>
            <a:pPr lvl="0"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</a:t>
            </a:r>
            <a:r>
              <a:rPr lang="en-US" sz="1400" b="1" dirty="0"/>
              <a:t>Prioritize Historical Lead Funnel:</a:t>
            </a:r>
            <a:r>
              <a:rPr lang="en-US" sz="1400" dirty="0"/>
              <a:t> The bank should strictly exhaust all historical campaign (</a:t>
            </a:r>
            <a:r>
              <a:rPr lang="en-US" sz="1400" b="1" dirty="0"/>
              <a:t>success</a:t>
            </a:r>
            <a:r>
              <a:rPr lang="en-US" sz="1400" dirty="0"/>
              <a:t>) lists </a:t>
            </a:r>
            <a:r>
              <a:rPr lang="en-US" sz="1400" i="1" dirty="0"/>
              <a:t>before</a:t>
            </a:r>
            <a:r>
              <a:rPr lang="en-US" sz="1400" dirty="0"/>
              <a:t> launching cold outreach. Warm leads yield a 2.5x higher sales return in much shorter time frames</a:t>
            </a:r>
            <a:r>
              <a:rPr lang="en-US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7232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329" y="365760"/>
            <a:ext cx="10695694" cy="52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A3E0"/>
                </a:solidFill>
              </a:defRPr>
            </a:pPr>
            <a:r>
              <a:rPr sz="1050" b="1" dirty="0">
                <a:solidFill>
                  <a:srgbClr val="005A9C"/>
                </a:solidFill>
                <a:latin typeface="Plus Jakarta Sans"/>
              </a:rPr>
              <a:t>CAIXABANK TELEMARKETING CAMPAIGN REVIEW</a:t>
            </a:r>
          </a:p>
          <a:p>
            <a:pPr>
              <a:defRPr sz="2200" b="1">
                <a:solidFill>
                  <a:srgbClr val="002B49"/>
                </a:solidFill>
              </a:defRPr>
            </a:pPr>
            <a:r>
              <a:rPr dirty="0"/>
              <a:t>Strategic </a:t>
            </a:r>
            <a:r>
              <a:rPr dirty="0" smtClean="0"/>
              <a:t>Roadmap</a:t>
            </a:r>
            <a:r>
              <a:rPr lang="en-US" dirty="0" smtClean="0"/>
              <a:t>, </a:t>
            </a:r>
            <a:r>
              <a:rPr dirty="0" smtClean="0"/>
              <a:t>Operational Recommendations</a:t>
            </a:r>
            <a:r>
              <a:rPr lang="en-US" dirty="0" smtClean="0"/>
              <a:t> &amp; Actio</a:t>
            </a:r>
            <a:r>
              <a:rPr lang="en-US" dirty="0"/>
              <a:t>n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534391" y="1179034"/>
            <a:ext cx="10984674" cy="5037146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1901" y="1232380"/>
            <a:ext cx="10141527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300" b="1">
                <a:solidFill>
                  <a:srgbClr val="002B49"/>
                </a:solidFill>
              </a:defRPr>
            </a:pPr>
            <a:r>
              <a:rPr lang="en-US" sz="1600" dirty="0" smtClean="0"/>
              <a:t>Long Term Actions for The Next Campaign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</a:t>
            </a:r>
            <a:r>
              <a:rPr lang="en-US" sz="1400" dirty="0" smtClean="0"/>
              <a:t>Implement </a:t>
            </a:r>
            <a:r>
              <a:rPr lang="en-US" sz="1400" dirty="0"/>
              <a:t>a </a:t>
            </a:r>
            <a:r>
              <a:rPr lang="en-US" sz="1400" dirty="0" smtClean="0"/>
              <a:t>Lead scoring </a:t>
            </a:r>
            <a:r>
              <a:rPr lang="en-US" sz="1400" dirty="0"/>
              <a:t>model prioritizing </a:t>
            </a:r>
            <a:r>
              <a:rPr lang="en-US" sz="1400" b="1" dirty="0"/>
              <a:t>Young Adults, Seniors </a:t>
            </a:r>
            <a:r>
              <a:rPr lang="en-US" sz="1400" dirty="0"/>
              <a:t>for age group ,  </a:t>
            </a:r>
            <a:r>
              <a:rPr lang="en-US" sz="1400" b="1" dirty="0"/>
              <a:t>Students, Retired, Management, Admin</a:t>
            </a:r>
            <a:r>
              <a:rPr lang="en-US" sz="1400" dirty="0"/>
              <a:t>  for job profile, </a:t>
            </a:r>
            <a:r>
              <a:rPr lang="en-US" sz="1400" b="1" dirty="0"/>
              <a:t>Tertiary-educated</a:t>
            </a:r>
            <a:r>
              <a:rPr lang="en-US" sz="1400" dirty="0"/>
              <a:t> for education, and </a:t>
            </a:r>
            <a:r>
              <a:rPr lang="en-US" sz="1400" b="1" dirty="0"/>
              <a:t>Debt-free </a:t>
            </a:r>
            <a:r>
              <a:rPr lang="en-US" sz="1400" dirty="0"/>
              <a:t>profiles</a:t>
            </a:r>
            <a:r>
              <a:rPr lang="en-US" sz="1400" dirty="0" smtClean="0"/>
              <a:t>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</a:t>
            </a:r>
            <a:r>
              <a:rPr lang="en-US" sz="1400" dirty="0" smtClean="0"/>
              <a:t>Implement </a:t>
            </a:r>
            <a:r>
              <a:rPr lang="en-US" sz="1400" dirty="0"/>
              <a:t>a scoring model prioritizing </a:t>
            </a:r>
            <a:r>
              <a:rPr lang="en-US" sz="1400" b="1" dirty="0"/>
              <a:t>Young Adults, Seniors </a:t>
            </a:r>
            <a:r>
              <a:rPr lang="en-US" sz="1400" dirty="0"/>
              <a:t>for age group ,  </a:t>
            </a:r>
            <a:r>
              <a:rPr lang="en-US" sz="1400" b="1" dirty="0"/>
              <a:t>Students, Retired, Management, Admin</a:t>
            </a:r>
            <a:r>
              <a:rPr lang="en-US" sz="1400" dirty="0"/>
              <a:t>  for job profile, </a:t>
            </a:r>
            <a:r>
              <a:rPr lang="en-US" sz="1400" b="1" dirty="0"/>
              <a:t>Tertiary-educated</a:t>
            </a:r>
            <a:r>
              <a:rPr lang="en-US" sz="1400" dirty="0"/>
              <a:t> for education, and </a:t>
            </a:r>
            <a:r>
              <a:rPr lang="en-US" sz="1400" b="1" dirty="0"/>
              <a:t>Debt-free </a:t>
            </a:r>
            <a:r>
              <a:rPr lang="en-US" sz="1400" dirty="0"/>
              <a:t>profiles</a:t>
            </a:r>
            <a:r>
              <a:rPr lang="en-US" sz="1400" dirty="0" smtClean="0"/>
              <a:t>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Implement a data-governance rule on CRM that blocks call agents from submitting or launching campaigns against accounts missing a specified data to eliminate the "Unknown" bucket</a:t>
            </a:r>
            <a:r>
              <a:rPr lang="en-US" sz="1400" dirty="0" smtClean="0"/>
              <a:t>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Migrate Landlines to Mobile Tracks: During successful landline calls, instruct agents to request a mobile number to naturally migrate these highly stable customers into the banks high-volume digital or automated SMS/app messaging streams</a:t>
            </a:r>
            <a:r>
              <a:rPr lang="en-US" sz="1400" dirty="0" smtClean="0"/>
              <a:t>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Mandate call duration optimization training focused on building rapport during minutes 2 to 5</a:t>
            </a:r>
            <a:r>
              <a:rPr lang="en-US" sz="1400" dirty="0" smtClean="0"/>
              <a:t>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 </a:t>
            </a:r>
            <a:r>
              <a:rPr lang="en-US" sz="1400" b="1" dirty="0"/>
              <a:t>Reallocate Agent Capacity:</a:t>
            </a:r>
            <a:r>
              <a:rPr lang="en-US" sz="1400" dirty="0"/>
              <a:t> Assign </a:t>
            </a:r>
            <a:r>
              <a:rPr lang="en-US" sz="1400" dirty="0" err="1"/>
              <a:t>Caixa</a:t>
            </a:r>
            <a:r>
              <a:rPr lang="en-US" sz="1400" dirty="0"/>
              <a:t> Bank most experienced, high-performing sales agents to the </a:t>
            </a:r>
            <a:r>
              <a:rPr lang="en-US" sz="1400" b="1" dirty="0"/>
              <a:t>Brand New Lead</a:t>
            </a:r>
            <a:r>
              <a:rPr lang="en-US" sz="1400" dirty="0"/>
              <a:t> pool (where the sales friction is highest) and allow junior agents or automated channels to handle the high-converting </a:t>
            </a:r>
            <a:r>
              <a:rPr lang="en-US" sz="1400" b="1" dirty="0"/>
              <a:t>Historical Leads</a:t>
            </a:r>
            <a:r>
              <a:rPr lang="en-US" sz="1400" dirty="0" smtClean="0"/>
              <a:t>.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000">
                <a:solidFill>
                  <a:srgbClr val="141E2D"/>
                </a:solidFill>
              </a:defRPr>
            </a:pPr>
            <a:r>
              <a:rPr lang="en-US" sz="1400" dirty="0"/>
              <a:t>•Continue calling the 3,386 subscribers sitting inside the unknown </a:t>
            </a:r>
            <a:r>
              <a:rPr lang="en-US" sz="1400" dirty="0" err="1"/>
              <a:t>poutcome</a:t>
            </a:r>
            <a:r>
              <a:rPr lang="en-US" sz="1400" dirty="0"/>
              <a:t>, 252 unknown education, 34 unknown job, 530 unknown contact channel to instantly update their profile so that they are accurately profiled for next campaign.  </a:t>
            </a:r>
          </a:p>
        </p:txBody>
      </p:sp>
    </p:spTree>
    <p:extLst>
      <p:ext uri="{BB962C8B-B14F-4D97-AF65-F5344CB8AC3E}">
        <p14:creationId xmlns:p14="http://schemas.microsoft.com/office/powerpoint/2010/main" val="1971272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rPr dirty="0"/>
              <a:t>Term Deposit Campaign Analytics</a:t>
            </a:r>
          </a:p>
          <a:p>
            <a:pPr>
              <a:spcBef>
                <a:spcPts val="1400"/>
              </a:spcBef>
              <a:defRPr sz="1800">
                <a:solidFill>
                  <a:srgbClr val="3572EF"/>
                </a:solidFill>
                <a:latin typeface="Arial"/>
              </a:defRPr>
            </a:pPr>
            <a:r>
              <a:rPr dirty="0"/>
              <a:t>Data-Driven Strategy for Conversion Optimization &amp; Resource Capacity Management</a:t>
            </a:r>
          </a:p>
          <a:p>
            <a:pPr>
              <a:spcBef>
                <a:spcPts val="40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rPr b="1" dirty="0"/>
              <a:t>Prepared for Executive Stakeholders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31430</TotalTime>
  <Words>1982</Words>
  <Application>Microsoft Office PowerPoint</Application>
  <PresentationFormat>Custom</PresentationFormat>
  <Paragraphs>173</Paragraphs>
  <Slides>17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</dc:creator>
  <dc:description>generated using python-pptx</dc:description>
  <cp:lastModifiedBy>DAVID</cp:lastModifiedBy>
  <cp:revision>158</cp:revision>
  <dcterms:created xsi:type="dcterms:W3CDTF">2013-01-27T09:14:16Z</dcterms:created>
  <dcterms:modified xsi:type="dcterms:W3CDTF">2026-10-11T17:25:43Z</dcterms:modified>
</cp:coreProperties>
</file>